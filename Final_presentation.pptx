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4"/>
    <p:restoredTop sz="94637"/>
  </p:normalViewPr>
  <p:slideViewPr>
    <p:cSldViewPr snapToGrid="0" snapToObjects="1">
      <p:cViewPr varScale="1">
        <p:scale>
          <a:sx n="145" d="100"/>
          <a:sy n="145" d="100"/>
        </p:scale>
        <p:origin x="1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Flagged as spam</c:v>
                </c:pt>
              </c:strCache>
            </c:strRef>
          </c:tx>
          <c:spPr>
            <a:solidFill>
              <a:srgbClr val="1E2761"/>
            </a:solidFill>
            <a:effectLst/>
          </c:spPr>
          <c:invertIfNegative val="0"/>
          <c:dLbls>
            <c:numFmt formatCode="#,##0" sourceLinked="0"/>
            <c:spPr>
              <a:noFill/>
              <a:ln>
                <a:noFill/>
              </a:ln>
              <a:effectLst/>
            </c:spPr>
            <c:txPr>
              <a:bodyPr/>
              <a:lstStyle/>
              <a:p>
                <a:pPr>
                  <a:defRPr sz="1100" b="0" i="0" u="none" strike="noStrike">
                    <a:solidFill>
                      <a:srgbClr val="1E276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delay</c:v>
                </c:pt>
                <c:pt idx="1">
                  <c:v>Delay</c:v>
                </c:pt>
                <c:pt idx="2">
                  <c:v>Delay +
reduced timeout</c:v>
                </c:pt>
              </c:strCache>
            </c:strRef>
          </c:cat>
          <c:val>
            <c:numRef>
              <c:f>Sheet1!$B$2:$B$4</c:f>
              <c:numCache>
                <c:formatCode>General</c:formatCode>
                <c:ptCount val="3"/>
                <c:pt idx="0">
                  <c:v>675</c:v>
                </c:pt>
                <c:pt idx="1">
                  <c:v>654</c:v>
                </c:pt>
                <c:pt idx="2">
                  <c:v>569</c:v>
                </c:pt>
              </c:numCache>
            </c:numRef>
          </c:val>
          <c:extLst>
            <c:ext xmlns:c16="http://schemas.microsoft.com/office/drawing/2014/chart" uri="{C3380CC4-5D6E-409C-BE32-E72D297353CC}">
              <c16:uniqueId val="{00000000-C2B7-2A4C-ADB3-DA76B8011CEE}"/>
            </c:ext>
          </c:extLst>
        </c:ser>
        <c:ser>
          <c:idx val="1"/>
          <c:order val="1"/>
          <c:tx>
            <c:strRef>
              <c:f>Sheet1!$C$1</c:f>
              <c:strCache>
                <c:ptCount val="1"/>
                <c:pt idx="0">
                  <c:v>Real blocklist hit</c:v>
                </c:pt>
              </c:strCache>
            </c:strRef>
          </c:tx>
          <c:spPr>
            <a:solidFill>
              <a:srgbClr val="E8833A"/>
            </a:solidFill>
            <a:effectLst/>
          </c:spPr>
          <c:invertIfNegative val="0"/>
          <c:dLbls>
            <c:numFmt formatCode="#,##0" sourceLinked="0"/>
            <c:spPr>
              <a:noFill/>
              <a:ln>
                <a:noFill/>
              </a:ln>
              <a:effectLst/>
            </c:spPr>
            <c:txPr>
              <a:bodyPr/>
              <a:lstStyle/>
              <a:p>
                <a:pPr>
                  <a:defRPr sz="1100" b="0" i="0" u="none" strike="noStrike">
                    <a:solidFill>
                      <a:srgbClr val="1E276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delay</c:v>
                </c:pt>
                <c:pt idx="1">
                  <c:v>Delay</c:v>
                </c:pt>
                <c:pt idx="2">
                  <c:v>Delay +
reduced timeout</c:v>
                </c:pt>
              </c:strCache>
            </c:strRef>
          </c:cat>
          <c:val>
            <c:numRef>
              <c:f>Sheet1!$C$2:$C$4</c:f>
              <c:numCache>
                <c:formatCode>General</c:formatCode>
                <c:ptCount val="3"/>
                <c:pt idx="0">
                  <c:v>502</c:v>
                </c:pt>
                <c:pt idx="1">
                  <c:v>482</c:v>
                </c:pt>
                <c:pt idx="2">
                  <c:v>94</c:v>
                </c:pt>
              </c:numCache>
            </c:numRef>
          </c:val>
          <c:extLst>
            <c:ext xmlns:c16="http://schemas.microsoft.com/office/drawing/2014/chart" uri="{C3380CC4-5D6E-409C-BE32-E72D297353CC}">
              <c16:uniqueId val="{00000001-C2B7-2A4C-ADB3-DA76B8011CE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761"/>
                </a:solidFill>
                <a:latin typeface="Calibri"/>
              </a:defRPr>
            </a:pPr>
            <a:endParaRPr lang="en-US"/>
          </a:p>
        </c:txPr>
        <c:crossAx val="2094734552"/>
        <c:crosses val="autoZero"/>
        <c:auto val="1"/>
        <c:lblAlgn val="ctr"/>
        <c:lblOffset val="100"/>
        <c:noMultiLvlLbl val="1"/>
      </c:catAx>
      <c:valAx>
        <c:axId val="2094734552"/>
        <c:scaling>
          <c:orientation val="minMax"/>
          <c:max val="800"/>
        </c:scaling>
        <c:delete val="0"/>
        <c:axPos val="l"/>
        <c:majorGridlines>
          <c:spPr>
            <a:ln w="12700" cap="flat">
              <a:solidFill>
                <a:srgbClr val="EDF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347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Good morning. My project is about anti-spam filtering over delay-tolerant networks. The question I set out to answer is a simple one: do the anti-spam tools a mail server runs today still work when that mail server is on the Moon, and the services it depends on are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First, why we need a special network for this at all. Standard internet protocols do not work in space, for two reasons. There is no continuous end-to-end path, and the delay is in seconds, not milliseconds. Protocol timeouts and handshakes assume short round trips, and in space that assumption does not hold.</a:t>
            </a:r>
          </a:p>
          <a:p>
            <a:r>
              <a:rPr lang="en-IN" sz="1200" b="0" i="0" u="none" strike="noStrike" kern="1200" dirty="0">
                <a:solidFill>
                  <a:schemeClr val="tx1"/>
                </a:solidFill>
                <a:effectLst/>
                <a:latin typeface="+mn-lt"/>
                <a:ea typeface="+mn-ea"/>
                <a:cs typeface="+mn-cs"/>
              </a:rPr>
              <a:t>The answer is delay-tolerant networking, which uses store-and-forward. Each node stores the message and forwards it when a link is available. It is not experimental: it is specified in RFC 4838 and RFC 9171, and NASA's ION is one implementation of the Bundle Protocol.</a:t>
            </a:r>
          </a:p>
          <a:p>
            <a:r>
              <a:rPr lang="en-IN" sz="1200" b="0" i="0" u="none" strike="noStrike" kern="1200" dirty="0">
                <a:solidFill>
                  <a:schemeClr val="tx1"/>
                </a:solidFill>
                <a:effectLst/>
                <a:latin typeface="+mn-lt"/>
                <a:ea typeface="+mn-ea"/>
                <a:cs typeface="+mn-cs"/>
              </a:rPr>
              <a:t>Email is already carried this way. A standard mail server on Earth, a gateway that packs the message into a bundle, the bundle crosses the link, a gateway rebuilds it, and a standard mail server on the Moon receives it. Email transport over DTN is specified and implemented.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So email transport over DTN has been studied. Filtering has not. That gap is the problem.</a:t>
            </a:r>
          </a:p>
          <a:p>
            <a:r>
              <a:rPr lang="en-IN" sz="1200" b="0" i="0" u="none" strike="noStrike" kern="1200" dirty="0">
                <a:solidFill>
                  <a:schemeClr val="tx1"/>
                </a:solidFill>
                <a:effectLst/>
                <a:latin typeface="+mn-lt"/>
                <a:ea typeface="+mn-ea"/>
                <a:cs typeface="+mn-cs"/>
              </a:rPr>
              <a:t>The reason it matters is on the right. Anti-spam tools do not only read the message. Reading the message is instant. But every other step is a network lookup: check the sender IP, check each URL, follow-up lookups. On Earth these are fast. On the Moon node, each lookup takes 2.6 seconds. Reading is free; the lookups are not.</a:t>
            </a:r>
          </a:p>
          <a:p>
            <a:r>
              <a:rPr lang="en-IN" sz="1200" b="0" i="0" u="none" strike="noStrike" kern="1200" dirty="0">
                <a:solidFill>
                  <a:schemeClr val="tx1"/>
                </a:solidFill>
                <a:effectLst/>
                <a:latin typeface="+mn-lt"/>
                <a:ea typeface="+mn-ea"/>
                <a:cs typeface="+mn-cs"/>
              </a:rPr>
              <a:t>So a mail service on the Moon receives spam like any mail system, and the tools that would catch it depend on lookups that cross the delayed link. The effect on filtering has not been measured. That is what I measure.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The research question is: how do existing anti-spam tools behave over a delay-tolerant link, and what mechanisms drive that behaviour.</a:t>
            </a:r>
          </a:p>
          <a:p>
            <a:r>
              <a:rPr lang="en-IN" sz="1200" b="0" i="0" u="none" strike="noStrike" kern="1200" dirty="0">
                <a:solidFill>
                  <a:schemeClr val="tx1"/>
                </a:solidFill>
                <a:effectLst/>
                <a:latin typeface="+mn-lt"/>
                <a:ea typeface="+mn-ea"/>
                <a:cs typeface="+mn-cs"/>
              </a:rPr>
              <a:t>It has three parts. Network dependence: how does each tool's network dependence interact with delay. Failure modes: what fails under delay, and what causes it. And timeouts: how do the tools' own timeout settings behave under delay.</a:t>
            </a:r>
          </a:p>
          <a:p>
            <a:r>
              <a:rPr lang="en-IN" sz="1200" b="0" i="0" u="none" strike="noStrike" kern="1200" dirty="0">
                <a:solidFill>
                  <a:schemeClr val="tx1"/>
                </a:solidFill>
                <a:effectLst/>
                <a:latin typeface="+mn-lt"/>
                <a:ea typeface="+mn-ea"/>
                <a:cs typeface="+mn-cs"/>
              </a:rPr>
              <a:t>On scope: this is a behavioural study. It characterises and explains the response to delay. It does not propose a filtering system for interplanetary email. The output is an account of the behaviour and its causes, which is the starting point for anyone who later builds filtering into interplanetary email.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This is the testbed. Two networks: Earth and Moon. On Earth, a Thunderbird client and the sending mail server, Mail1, running Postfix and Dovecot. On the Moon, the receiving mail server, Mail2, which runs the anti-spam scan, and its own Thunderbird client. Between them sits the relay, called Space, and that is where the delay is applied: no delay on the Earth side, 1.3 seconds each way across the link.</a:t>
            </a:r>
          </a:p>
          <a:p>
            <a:r>
              <a:rPr lang="en-IN" sz="1200" b="0" i="0" u="none" strike="noStrike" kern="1200" dirty="0">
                <a:solidFill>
                  <a:schemeClr val="tx1"/>
                </a:solidFill>
                <a:effectLst/>
                <a:latin typeface="+mn-lt"/>
                <a:ea typeface="+mn-ea"/>
                <a:cs typeface="+mn-cs"/>
              </a:rPr>
              <a:t>The key point is the asymmetry. The blocklists are on Earth. Queries from Earth are not delayed. But queries from the Moon cross the link twice, so each lookup from the scanner is a 2.6-second round trip. The scanner is on the far side of the delay, and that is what the experiment measures.</a:t>
            </a:r>
          </a:p>
          <a:p>
            <a:r>
              <a:rPr lang="en-IN" sz="1200" b="0" i="0" u="none" strike="noStrike" kern="1200" dirty="0">
                <a:solidFill>
                  <a:schemeClr val="tx1"/>
                </a:solidFill>
                <a:effectLst/>
                <a:latin typeface="+mn-lt"/>
                <a:ea typeface="+mn-ea"/>
                <a:cs typeface="+mn-cs"/>
              </a:rPr>
              <a:t>One thing I want to stress: every component is production mail software. Postfix, Dovecot, </a:t>
            </a:r>
            <a:r>
              <a:rPr lang="en-IN" sz="1200" b="0" i="0" u="none" strike="noStrike" kern="1200" dirty="0" err="1">
                <a:solidFill>
                  <a:schemeClr val="tx1"/>
                </a:solidFill>
                <a:effectLst/>
                <a:latin typeface="+mn-lt"/>
                <a:ea typeface="+mn-ea"/>
                <a:cs typeface="+mn-cs"/>
              </a:rPr>
              <a:t>SpamAssassin</a:t>
            </a:r>
            <a:r>
              <a:rPr lang="en-IN" sz="1200" b="0" i="0" u="none" strike="noStrike" kern="1200" dirty="0">
                <a:solidFill>
                  <a:schemeClr val="tx1"/>
                </a:solidFill>
                <a:effectLst/>
                <a:latin typeface="+mn-lt"/>
                <a:ea typeface="+mn-ea"/>
                <a:cs typeface="+mn-cs"/>
              </a:rPr>
              <a:t>, </a:t>
            </a:r>
            <a:r>
              <a:rPr lang="en-IN" sz="1200" b="0" i="0" u="none" strike="noStrike" kern="1200" dirty="0" err="1">
                <a:solidFill>
                  <a:schemeClr val="tx1"/>
                </a:solidFill>
                <a:effectLst/>
                <a:latin typeface="+mn-lt"/>
                <a:ea typeface="+mn-ea"/>
                <a:cs typeface="+mn-cs"/>
              </a:rPr>
              <a:t>rspamd</a:t>
            </a:r>
            <a:r>
              <a:rPr lang="en-IN" sz="1200" b="0" i="0" u="none" strike="noStrike" kern="1200" dirty="0">
                <a:solidFill>
                  <a:schemeClr val="tx1"/>
                </a:solidFill>
                <a:effectLst/>
                <a:latin typeface="+mn-lt"/>
                <a:ea typeface="+mn-ea"/>
                <a:cs typeface="+mn-cs"/>
              </a:rPr>
              <a:t>. Nothing is simulated. Only the link delay is introduced.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Here is the software, in three columns. The mail column is standard, unmodified mail software: Postfix as the mail transfer agent, Dovecot for IMAP and POP3, Thunderbird as the client. The DTN column carries the message over the Bundle Protocol: ION-DTN and </a:t>
            </a:r>
            <a:r>
              <a:rPr lang="en-IN" sz="1200" b="0" i="0" u="none" strike="noStrike" kern="1200" dirty="0" err="1">
                <a:solidFill>
                  <a:schemeClr val="tx1"/>
                </a:solidFill>
                <a:effectLst/>
                <a:latin typeface="+mn-lt"/>
                <a:ea typeface="+mn-ea"/>
                <a:cs typeface="+mn-cs"/>
              </a:rPr>
              <a:t>BPMail</a:t>
            </a:r>
            <a:r>
              <a:rPr lang="en-IN" sz="1200" b="0" i="0" u="none" strike="noStrike" kern="1200" dirty="0">
                <a:solidFill>
                  <a:schemeClr val="tx1"/>
                </a:solidFill>
                <a:effectLst/>
                <a:latin typeface="+mn-lt"/>
                <a:ea typeface="+mn-ea"/>
                <a:cs typeface="+mn-cs"/>
              </a:rPr>
              <a:t>.</a:t>
            </a:r>
          </a:p>
          <a:p>
            <a:r>
              <a:rPr lang="en-IN" sz="1200" b="0" i="0" u="none" strike="noStrike" kern="1200" dirty="0">
                <a:solidFill>
                  <a:schemeClr val="tx1"/>
                </a:solidFill>
                <a:effectLst/>
                <a:latin typeface="+mn-lt"/>
                <a:ea typeface="+mn-ea"/>
                <a:cs typeface="+mn-cs"/>
              </a:rPr>
              <a:t>The right-hand column is the object of study, the anti-spam tools. The rest just provides the mail path they run on. I selected three tools for their different network dependencies. </a:t>
            </a:r>
            <a:r>
              <a:rPr lang="en-IN" sz="1200" b="0" i="0" u="none" strike="noStrike" kern="1200" dirty="0" err="1">
                <a:solidFill>
                  <a:schemeClr val="tx1"/>
                </a:solidFill>
                <a:effectLst/>
                <a:latin typeface="+mn-lt"/>
                <a:ea typeface="+mn-ea"/>
                <a:cs typeface="+mn-cs"/>
              </a:rPr>
              <a:t>SpamAssassin</a:t>
            </a:r>
            <a:r>
              <a:rPr lang="en-IN" sz="1200" b="0" i="0" u="none" strike="noStrike" kern="1200" dirty="0">
                <a:solidFill>
                  <a:schemeClr val="tx1"/>
                </a:solidFill>
                <a:effectLst/>
                <a:latin typeface="+mn-lt"/>
                <a:ea typeface="+mn-ea"/>
                <a:cs typeface="+mn-cs"/>
              </a:rPr>
              <a:t> uses DNS blocklists. </a:t>
            </a:r>
            <a:r>
              <a:rPr lang="en-IN" sz="1200" b="0" i="0" u="none" strike="noStrike" kern="1200" dirty="0" err="1">
                <a:solidFill>
                  <a:schemeClr val="tx1"/>
                </a:solidFill>
                <a:effectLst/>
                <a:latin typeface="+mn-lt"/>
                <a:ea typeface="+mn-ea"/>
                <a:cs typeface="+mn-cs"/>
              </a:rPr>
              <a:t>Rspamd</a:t>
            </a:r>
            <a:r>
              <a:rPr lang="en-IN" sz="1200" b="0" i="0" u="none" strike="noStrike" kern="1200" dirty="0">
                <a:solidFill>
                  <a:schemeClr val="tx1"/>
                </a:solidFill>
                <a:effectLst/>
                <a:latin typeface="+mn-lt"/>
                <a:ea typeface="+mn-ea"/>
                <a:cs typeface="+mn-cs"/>
              </a:rPr>
              <a:t> also uses DNS, but issues a large volume of parallel lookups. Vipul's Razor opens a TCP session to a central server. Three tools, three different ways of reaching the network, so each may behave differently under delay.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The run protocol is three runs per tool. Run 1 is the baseline, with no delay. Run 2 applies the 1.3-second delay with the tool's default settings. Run 3 keeps the delay but reduces the timeout, which is what an operator might do to keep mail moving.</a:t>
            </a:r>
          </a:p>
          <a:p>
            <a:r>
              <a:rPr lang="en-IN" sz="1200" b="0" i="0" u="none" strike="noStrike" kern="1200" dirty="0">
                <a:solidFill>
                  <a:schemeClr val="tx1"/>
                </a:solidFill>
                <a:effectLst/>
                <a:latin typeface="+mn-lt"/>
                <a:ea typeface="+mn-ea"/>
                <a:cs typeface="+mn-cs"/>
              </a:rPr>
              <a:t>Each run uses the same 681 emails, the same corpus every time. For each email I record the verdict, the score, the rules fired, and the scan time. For each run I take a packet capture and start from a cold DNS cache. Each run is scripted end to end, so a full pass repeats identically with no per-email steps. Runs 2 and 3 are run back-to-back, because blocklist listings drift over hours, so only adjacent runs can be compared fairly.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Now the results. I want to be clear up front: only one of the tools' results is displayed here. These are the </a:t>
            </a:r>
            <a:r>
              <a:rPr lang="en-IN" sz="1200" b="0" i="0" u="none" strike="noStrike" kern="1200" dirty="0" err="1">
                <a:solidFill>
                  <a:schemeClr val="tx1"/>
                </a:solidFill>
                <a:effectLst/>
                <a:latin typeface="+mn-lt"/>
                <a:ea typeface="+mn-ea"/>
                <a:cs typeface="+mn-cs"/>
              </a:rPr>
              <a:t>rspamd</a:t>
            </a:r>
            <a:r>
              <a:rPr lang="en-IN" sz="1200" b="0" i="0" u="none" strike="noStrike" kern="1200" dirty="0">
                <a:solidFill>
                  <a:schemeClr val="tx1"/>
                </a:solidFill>
                <a:effectLst/>
                <a:latin typeface="+mn-lt"/>
                <a:ea typeface="+mn-ea"/>
                <a:cs typeface="+mn-cs"/>
              </a:rPr>
              <a:t> results. The full set for all tools is in the dissertation.</a:t>
            </a:r>
          </a:p>
          <a:p>
            <a:r>
              <a:rPr lang="en-IN" sz="1200" b="0" i="0" u="none" strike="noStrike" kern="1200" dirty="0">
                <a:solidFill>
                  <a:schemeClr val="tx1"/>
                </a:solidFill>
                <a:effectLst/>
                <a:latin typeface="+mn-lt"/>
                <a:ea typeface="+mn-ea"/>
                <a:cs typeface="+mn-cs"/>
              </a:rPr>
              <a:t>Start with delay on default settings, the middle case. Detection drops from 99.1 percent to 96.0 percent. That is a drop of three points. It is small, and the reason it is small is important: the lookups still complete. The answers arrive across the delayed link, and the tool waits for them.</a:t>
            </a:r>
          </a:p>
          <a:p>
            <a:r>
              <a:rPr lang="en-IN" sz="1200" b="0" i="0" u="none" strike="noStrike" kern="1200" dirty="0">
                <a:solidFill>
                  <a:schemeClr val="tx1"/>
                </a:solidFill>
                <a:effectLst/>
                <a:latin typeface="+mn-lt"/>
                <a:ea typeface="+mn-ea"/>
                <a:cs typeface="+mn-cs"/>
              </a:rPr>
              <a:t>The cost of waiting shows up in scan time. Scan time rises twelve times: from 0.47 seconds to 5.61 seconds on average. And DNS queries go from 39,000 to 81,000, roughly double, because queries are retransmitted while the tool waits. So under default settings, </a:t>
            </a:r>
            <a:r>
              <a:rPr lang="en-IN" sz="1200" b="0" i="0" u="none" strike="noStrike" kern="1200" dirty="0" err="1">
                <a:solidFill>
                  <a:schemeClr val="tx1"/>
                </a:solidFill>
                <a:effectLst/>
                <a:latin typeface="+mn-lt"/>
                <a:ea typeface="+mn-ea"/>
                <a:cs typeface="+mn-cs"/>
              </a:rPr>
              <a:t>rspamd</a:t>
            </a:r>
            <a:r>
              <a:rPr lang="en-IN" sz="1200" b="0" i="0" u="none" strike="noStrike" kern="1200" dirty="0">
                <a:solidFill>
                  <a:schemeClr val="tx1"/>
                </a:solidFill>
                <a:effectLst/>
                <a:latin typeface="+mn-lt"/>
                <a:ea typeface="+mn-ea"/>
                <a:cs typeface="+mn-cs"/>
              </a:rPr>
              <a:t> keeps almost all of its detection, but it pays for it in time.</a:t>
            </a:r>
          </a:p>
          <a:p>
            <a:r>
              <a:rPr lang="en-IN" sz="1200" b="0" i="0" u="none" strike="noStrike" kern="1200" dirty="0">
                <a:solidFill>
                  <a:schemeClr val="tx1"/>
                </a:solidFill>
                <a:effectLst/>
                <a:latin typeface="+mn-lt"/>
                <a:ea typeface="+mn-ea"/>
                <a:cs typeface="+mn-cs"/>
              </a:rPr>
              <a:t>Now the reduced timeout, Run 3. Here detection falls sharply. Real blocklist hits drop from 502 to 94. And 103 emails that were spam in Run 2 flip to not-spam in Run 3.</a:t>
            </a:r>
          </a:p>
          <a:p>
            <a:r>
              <a:rPr lang="en-IN" sz="1200" b="0" i="0" u="none" strike="noStrike" kern="1200" dirty="0">
                <a:solidFill>
                  <a:schemeClr val="tx1"/>
                </a:solidFill>
                <a:effectLst/>
                <a:latin typeface="+mn-lt"/>
                <a:ea typeface="+mn-ea"/>
                <a:cs typeface="+mn-cs"/>
              </a:rPr>
              <a:t>The key finding is why. The packet captures show the resolver returned every answer, in all cases. The loss is caused by the tool's timeout, not by network failure. When the timeout is 1.5 seconds and the round trip is 2.6 seconds, the tool ends the task before the answer arrives. The network delivered; the tool gave up early.</a:t>
            </a:r>
          </a:p>
          <a:p>
            <a:r>
              <a:rPr lang="en-IN" sz="1200" b="0" i="1" u="none" strike="noStrike" kern="1200" dirty="0">
                <a:solidFill>
                  <a:schemeClr val="tx1"/>
                </a:solidFill>
                <a:effectLst/>
                <a:latin typeface="+mn-lt"/>
                <a:ea typeface="+mn-ea"/>
                <a:cs typeface="+mn-cs"/>
              </a:rPr>
              <a:t>(If asked about the crash: </a:t>
            </a:r>
            <a:r>
              <a:rPr lang="en-IN" sz="1200" b="0" i="1" u="none" strike="noStrike" kern="1200" dirty="0" err="1">
                <a:solidFill>
                  <a:schemeClr val="tx1"/>
                </a:solidFill>
                <a:effectLst/>
                <a:latin typeface="+mn-lt"/>
                <a:ea typeface="+mn-ea"/>
                <a:cs typeface="+mn-cs"/>
              </a:rPr>
              <a:t>rspamd</a:t>
            </a:r>
            <a:r>
              <a:rPr lang="en-IN" sz="1200" b="0" i="1" u="none" strike="noStrike" kern="1200" dirty="0">
                <a:solidFill>
                  <a:schemeClr val="tx1"/>
                </a:solidFill>
                <a:effectLst/>
                <a:latin typeface="+mn-lt"/>
                <a:ea typeface="+mn-ea"/>
                <a:cs typeface="+mn-cs"/>
              </a:rPr>
              <a:t> would not scan any email containing a URL until I worked around a CPU-feature misreport in the virtualisation layer. Diagnosed from a core dump, confirmed against upstream bug reports. It is not a DTN effect.)</a:t>
            </a:r>
            <a:endParaRPr lang="en-IN"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To summarise. The testbed runs, and the design choice that matters is validated: the scanner sits on the Moon node, and the delay is applied to the Moon link only.</a:t>
            </a:r>
          </a:p>
          <a:p>
            <a:r>
              <a:rPr lang="en-IN" sz="1200" b="0" i="0" u="none" strike="noStrike" kern="1200" dirty="0">
                <a:solidFill>
                  <a:schemeClr val="tx1"/>
                </a:solidFill>
                <a:effectLst/>
                <a:latin typeface="+mn-lt"/>
                <a:ea typeface="+mn-ea"/>
                <a:cs typeface="+mn-cs"/>
              </a:rPr>
              <a:t>The main result is one line. The delay does not prevent the lookups completing. The tool's timeout does. Under delay, </a:t>
            </a:r>
            <a:r>
              <a:rPr lang="en-IN" sz="1200" b="0" i="0" u="none" strike="noStrike" kern="1200" dirty="0" err="1">
                <a:solidFill>
                  <a:schemeClr val="tx1"/>
                </a:solidFill>
                <a:effectLst/>
                <a:latin typeface="+mn-lt"/>
                <a:ea typeface="+mn-ea"/>
                <a:cs typeface="+mn-cs"/>
              </a:rPr>
              <a:t>rspamd</a:t>
            </a:r>
            <a:r>
              <a:rPr lang="en-IN" sz="1200" b="0" i="0" u="none" strike="noStrike" kern="1200" dirty="0">
                <a:solidFill>
                  <a:schemeClr val="tx1"/>
                </a:solidFill>
                <a:effectLst/>
                <a:latin typeface="+mn-lt"/>
                <a:ea typeface="+mn-ea"/>
                <a:cs typeface="+mn-cs"/>
              </a:rPr>
              <a:t> retained detection at twelve times the scan time. With the timeout reduced, most DNS-based detection was lost. And the detection that does survive a reduced timeout comes from the resolver cache, from answers already held from earlier messages, not from completed lookups.</a:t>
            </a:r>
          </a:p>
          <a:p>
            <a:r>
              <a:rPr lang="en-IN" sz="1200" b="0" i="0" u="none" strike="noStrike" kern="1200" dirty="0">
                <a:solidFill>
                  <a:schemeClr val="tx1"/>
                </a:solidFill>
                <a:effectLst/>
                <a:latin typeface="+mn-lt"/>
                <a:ea typeface="+mn-ea"/>
                <a:cs typeface="+mn-cs"/>
              </a:rPr>
              <a:t>Two tasks remain. The Razor run analysis is being completed, and the dissertation write-up is in progress.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011680"/>
            <a:ext cx="7498080" cy="155448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Anti-Spam Filtering</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over Delay-Tolerant Networks</a:t>
            </a:r>
            <a:endParaRPr lang="en-US" sz="4000" dirty="0"/>
          </a:p>
        </p:txBody>
      </p:sp>
      <p:sp>
        <p:nvSpPr>
          <p:cNvPr id="3" name="Text 1"/>
          <p:cNvSpPr/>
          <p:nvPr/>
        </p:nvSpPr>
        <p:spPr>
          <a:xfrm>
            <a:off x="822960" y="3794760"/>
            <a:ext cx="7498080" cy="365760"/>
          </a:xfrm>
          <a:prstGeom prst="rect">
            <a:avLst/>
          </a:prstGeom>
          <a:noFill/>
          <a:ln/>
        </p:spPr>
        <p:txBody>
          <a:bodyPr wrap="square" lIns="0" tIns="0" rIns="0" bIns="0" rtlCol="0" anchor="ctr"/>
          <a:lstStyle/>
          <a:p>
            <a:pPr marL="0" indent="0">
              <a:buNone/>
            </a:pPr>
            <a:r>
              <a:rPr lang="en-US" sz="1700" dirty="0">
                <a:solidFill>
                  <a:srgbClr val="AEB8D9"/>
                </a:solidFill>
                <a:latin typeface="Calibri" pitchFamily="34" charset="0"/>
                <a:ea typeface="Calibri" pitchFamily="34" charset="-122"/>
                <a:cs typeface="Calibri" pitchFamily="34" charset="-120"/>
              </a:rPr>
              <a:t>Measuring how anti-spam tools behave on an Earth–Moon link</a:t>
            </a:r>
            <a:endParaRPr lang="en-US" sz="1700" dirty="0"/>
          </a:p>
        </p:txBody>
      </p:sp>
      <p:sp>
        <p:nvSpPr>
          <p:cNvPr id="4" name="Text 2"/>
          <p:cNvSpPr/>
          <p:nvPr/>
        </p:nvSpPr>
        <p:spPr>
          <a:xfrm>
            <a:off x="822960" y="5394960"/>
            <a:ext cx="7498080" cy="292608"/>
          </a:xfrm>
          <a:prstGeom prst="rect">
            <a:avLst/>
          </a:prstGeom>
          <a:noFill/>
          <a:ln/>
        </p:spPr>
        <p:txBody>
          <a:bodyPr wrap="square" lIns="0" tIns="0" rIns="0" bIns="0" rtlCol="0" anchor="ctr"/>
          <a:lstStyle/>
          <a:p>
            <a:pPr marL="0" indent="0">
              <a:buNone/>
            </a:pPr>
            <a:r>
              <a:rPr lang="en-US" sz="1250" dirty="0">
                <a:solidFill>
                  <a:srgbClr val="AEB8D9"/>
                </a:solidFill>
                <a:latin typeface="Calibri" pitchFamily="34" charset="0"/>
                <a:ea typeface="Calibri" pitchFamily="34" charset="-122"/>
                <a:cs typeface="Calibri" pitchFamily="34" charset="-120"/>
              </a:rPr>
              <a:t>Rakesh Lakshmanan   ·   MSc Dissertation   ·   Trinity College Dublin</a:t>
            </a:r>
            <a:endParaRPr lang="en-US" sz="1250" dirty="0"/>
          </a:p>
        </p:txBody>
      </p:sp>
      <p:sp>
        <p:nvSpPr>
          <p:cNvPr id="5" name="Shape 3"/>
          <p:cNvSpPr/>
          <p:nvPr/>
        </p:nvSpPr>
        <p:spPr>
          <a:xfrm>
            <a:off x="9052560" y="2743200"/>
            <a:ext cx="1371600" cy="1371600"/>
          </a:xfrm>
          <a:prstGeom prst="ellipse">
            <a:avLst/>
          </a:prstGeom>
          <a:solidFill>
            <a:srgbClr val="1E2761"/>
          </a:solidFill>
          <a:ln w="19050">
            <a:solidFill>
              <a:srgbClr val="FFFFFF"/>
            </a:solidFill>
            <a:prstDash val="solid"/>
          </a:ln>
        </p:spPr>
        <p:txBody>
          <a:bodyPr/>
          <a:lstStyle/>
          <a:p>
            <a:endParaRPr lang="en-US"/>
          </a:p>
        </p:txBody>
      </p:sp>
      <p:sp>
        <p:nvSpPr>
          <p:cNvPr id="6" name="Shape 4"/>
          <p:cNvSpPr/>
          <p:nvPr/>
        </p:nvSpPr>
        <p:spPr>
          <a:xfrm>
            <a:off x="11109960" y="3200400"/>
            <a:ext cx="457200" cy="457200"/>
          </a:xfrm>
          <a:prstGeom prst="ellipse">
            <a:avLst/>
          </a:prstGeom>
          <a:solidFill>
            <a:srgbClr val="FFFFFF"/>
          </a:solidFill>
          <a:ln w="12700">
            <a:solidFill>
              <a:srgbClr val="FFFFFF"/>
            </a:solidFill>
            <a:prstDash val="solid"/>
          </a:ln>
        </p:spPr>
        <p:txBody>
          <a:bodyPr/>
          <a:lstStyle/>
          <a:p>
            <a:endParaRPr lang="en-US"/>
          </a:p>
        </p:txBody>
      </p:sp>
      <p:sp>
        <p:nvSpPr>
          <p:cNvPr id="7" name="Shape 5"/>
          <p:cNvSpPr/>
          <p:nvPr/>
        </p:nvSpPr>
        <p:spPr>
          <a:xfrm>
            <a:off x="10515600" y="3429000"/>
            <a:ext cx="548640" cy="0"/>
          </a:xfrm>
          <a:prstGeom prst="line">
            <a:avLst/>
          </a:prstGeom>
          <a:noFill/>
          <a:ln w="25400">
            <a:solidFill>
              <a:srgbClr val="E8833A"/>
            </a:solidFill>
            <a:prstDash val="dash"/>
          </a:ln>
        </p:spPr>
        <p:txBody>
          <a:bodyPr/>
          <a:lstStyle/>
          <a:p>
            <a:endParaRPr lang="en-US"/>
          </a:p>
        </p:txBody>
      </p:sp>
      <p:sp>
        <p:nvSpPr>
          <p:cNvPr id="8" name="Text 6"/>
          <p:cNvSpPr/>
          <p:nvPr/>
        </p:nvSpPr>
        <p:spPr>
          <a:xfrm>
            <a:off x="10332720" y="3611880"/>
            <a:ext cx="914400" cy="256032"/>
          </a:xfrm>
          <a:prstGeom prst="rect">
            <a:avLst/>
          </a:prstGeom>
          <a:noFill/>
          <a:ln/>
        </p:spPr>
        <p:txBody>
          <a:bodyPr wrap="square" lIns="0" tIns="0" rIns="0" bIns="0" rtlCol="0" anchor="ctr"/>
          <a:lstStyle/>
          <a:p>
            <a:pPr marL="0" indent="0" algn="ctr">
              <a:buNone/>
            </a:pPr>
            <a:r>
              <a:rPr lang="en-US" sz="1100" b="1" dirty="0">
                <a:solidFill>
                  <a:srgbClr val="E8833A"/>
                </a:solidFill>
                <a:latin typeface="Calibri" pitchFamily="34" charset="0"/>
                <a:ea typeface="Calibri" pitchFamily="34" charset="-122"/>
                <a:cs typeface="Calibri" pitchFamily="34" charset="-120"/>
              </a:rPr>
              <a:t>1.3 s</a:t>
            </a:r>
            <a:endParaRPr lang="en-US" sz="1100" dirty="0"/>
          </a:p>
        </p:txBody>
      </p:sp>
      <p:sp>
        <p:nvSpPr>
          <p:cNvPr id="900" name="Slide Number 1"/>
          <p:cNvSpPr>
            <a:spLocks noGrp="1"/>
          </p:cNvSpPr>
          <p:nvPr/>
        </p:nvSpPr>
        <p:spPr>
          <a:xfrm>
            <a:off x="10363200" y="6309360"/>
            <a:ext cx="1371600" cy="274320"/>
          </a:xfrm>
          <a:prstGeom prst="rect">
            <a:avLst/>
          </a:prstGeom>
        </p:spPr>
        <p:txBody>
          <a:bodyPr lIns="0" tIns="0" rIns="0" bIns="0" anchor="ctr"/>
          <a:lstStyle/>
          <a:p>
            <a:pPr algn="r"/>
            <a:r>
              <a:rPr lang="en-US" sz="1100">
                <a:solidFill>
                  <a:srgbClr val="AEB8D9"/>
                </a:solidFill>
                <a:latin typeface="Calibri"/>
              </a:rPr>
              <a:t>page </a:t>
            </a:r>
            <a:fld id="{A03D35BF-2BE2-42A7-9E54-45339D40BC95}" type="slidenum">
              <a:rPr lang="en-US" sz="1100">
                <a:solidFill>
                  <a:srgbClr val="AEB8D9"/>
                </a:solidFill>
                <a:latin typeface="Calibri"/>
              </a:rPr>
              <a:t>1</a:t>
            </a:fld>
            <a:r>
              <a:rPr lang="en-US" sz="1100">
                <a:solidFill>
                  <a:srgbClr val="AEB8D9"/>
                </a:solidFill>
                <a:latin typeface="Calibri"/>
              </a:rPr>
              <a:t>/9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Delay-Tolerant Networking</a:t>
            </a:r>
            <a:endParaRPr lang="en-US" sz="3200" dirty="0"/>
          </a:p>
        </p:txBody>
      </p:sp>
      <p:sp>
        <p:nvSpPr>
          <p:cNvPr id="3" name="Text 1"/>
          <p:cNvSpPr/>
          <p:nvPr/>
        </p:nvSpPr>
        <p:spPr>
          <a:xfrm>
            <a:off x="640080" y="1371600"/>
            <a:ext cx="493776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Why standard internet protocols do not work in space</a:t>
            </a:r>
            <a:endParaRPr lang="en-US" sz="1500" dirty="0"/>
          </a:p>
        </p:txBody>
      </p:sp>
      <p:sp>
        <p:nvSpPr>
          <p:cNvPr id="4" name="Text 2"/>
          <p:cNvSpPr/>
          <p:nvPr/>
        </p:nvSpPr>
        <p:spPr>
          <a:xfrm>
            <a:off x="640080" y="1874520"/>
            <a:ext cx="493776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No continuous end-to-end path</a:t>
            </a:r>
            <a:endParaRPr lang="en-US" sz="1400" dirty="0"/>
          </a:p>
        </p:txBody>
      </p:sp>
      <p:sp>
        <p:nvSpPr>
          <p:cNvPr id="5" name="Text 3"/>
          <p:cNvSpPr/>
          <p:nvPr/>
        </p:nvSpPr>
        <p:spPr>
          <a:xfrm>
            <a:off x="640080" y="2350008"/>
            <a:ext cx="493776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Delay in seconds, not milliseconds</a:t>
            </a:r>
            <a:endParaRPr lang="en-US" sz="1400" dirty="0"/>
          </a:p>
        </p:txBody>
      </p:sp>
      <p:sp>
        <p:nvSpPr>
          <p:cNvPr id="6" name="Text 4"/>
          <p:cNvSpPr/>
          <p:nvPr/>
        </p:nvSpPr>
        <p:spPr>
          <a:xfrm>
            <a:off x="640080" y="2825496"/>
            <a:ext cx="493776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Protocol timeouts and handshakes assume short round trips</a:t>
            </a:r>
          </a:p>
        </p:txBody>
      </p:sp>
      <p:sp>
        <p:nvSpPr>
          <p:cNvPr id="7" name="Text 5"/>
          <p:cNvSpPr/>
          <p:nvPr/>
        </p:nvSpPr>
        <p:spPr>
          <a:xfrm>
            <a:off x="6400800" y="1371600"/>
            <a:ext cx="512064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DTN uses store-and-forward</a:t>
            </a:r>
            <a:endParaRPr lang="en-US" sz="1500" dirty="0"/>
          </a:p>
        </p:txBody>
      </p:sp>
      <p:sp>
        <p:nvSpPr>
          <p:cNvPr id="8" name="Shape 6"/>
          <p:cNvSpPr/>
          <p:nvPr/>
        </p:nvSpPr>
        <p:spPr>
          <a:xfrm>
            <a:off x="6400800" y="1874520"/>
            <a:ext cx="1234440" cy="566928"/>
          </a:xfrm>
          <a:prstGeom prst="roundRect">
            <a:avLst>
              <a:gd name="adj" fmla="val 12903"/>
            </a:avLst>
          </a:prstGeom>
          <a:solidFill>
            <a:srgbClr val="FFFFFF"/>
          </a:solidFill>
          <a:ln w="19050">
            <a:solidFill>
              <a:srgbClr val="1E2761"/>
            </a:solidFill>
            <a:prstDash val="solid"/>
          </a:ln>
        </p:spPr>
        <p:txBody>
          <a:bodyPr/>
          <a:lstStyle/>
          <a:p>
            <a:endParaRPr lang="en-US"/>
          </a:p>
        </p:txBody>
      </p:sp>
      <p:sp>
        <p:nvSpPr>
          <p:cNvPr id="9" name="Text 7"/>
          <p:cNvSpPr/>
          <p:nvPr/>
        </p:nvSpPr>
        <p:spPr>
          <a:xfrm>
            <a:off x="6400800" y="1956816"/>
            <a:ext cx="1234440" cy="384048"/>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Earth</a:t>
            </a:r>
            <a:endParaRPr lang="en-US" sz="1200" dirty="0"/>
          </a:p>
        </p:txBody>
      </p:sp>
      <p:sp>
        <p:nvSpPr>
          <p:cNvPr id="10" name="Shape 8"/>
          <p:cNvSpPr/>
          <p:nvPr/>
        </p:nvSpPr>
        <p:spPr>
          <a:xfrm>
            <a:off x="7671816" y="2157984"/>
            <a:ext cx="429768" cy="0"/>
          </a:xfrm>
          <a:prstGeom prst="line">
            <a:avLst/>
          </a:prstGeom>
          <a:noFill/>
          <a:ln w="19050">
            <a:solidFill>
              <a:srgbClr val="6B7280"/>
            </a:solidFill>
            <a:prstDash val="solid"/>
            <a:tailEnd type="triangle"/>
          </a:ln>
        </p:spPr>
        <p:txBody>
          <a:bodyPr/>
          <a:lstStyle/>
          <a:p>
            <a:endParaRPr lang="en-US"/>
          </a:p>
        </p:txBody>
      </p:sp>
      <p:sp>
        <p:nvSpPr>
          <p:cNvPr id="11" name="Shape 9"/>
          <p:cNvSpPr/>
          <p:nvPr/>
        </p:nvSpPr>
        <p:spPr>
          <a:xfrm>
            <a:off x="8138160" y="1874520"/>
            <a:ext cx="1234440" cy="566928"/>
          </a:xfrm>
          <a:prstGeom prst="roundRect">
            <a:avLst>
              <a:gd name="adj" fmla="val 12903"/>
            </a:avLst>
          </a:prstGeom>
          <a:solidFill>
            <a:srgbClr val="FFFFFF"/>
          </a:solidFill>
          <a:ln w="19050">
            <a:solidFill>
              <a:srgbClr val="1E2761"/>
            </a:solidFill>
            <a:prstDash val="solid"/>
          </a:ln>
        </p:spPr>
        <p:txBody>
          <a:bodyPr/>
          <a:lstStyle/>
          <a:p>
            <a:endParaRPr lang="en-US"/>
          </a:p>
        </p:txBody>
      </p:sp>
      <p:sp>
        <p:nvSpPr>
          <p:cNvPr id="12" name="Text 10"/>
          <p:cNvSpPr/>
          <p:nvPr/>
        </p:nvSpPr>
        <p:spPr>
          <a:xfrm>
            <a:off x="8138160" y="1956816"/>
            <a:ext cx="1234440" cy="384048"/>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Relay</a:t>
            </a:r>
            <a:endParaRPr lang="en-US" sz="1200" dirty="0"/>
          </a:p>
        </p:txBody>
      </p:sp>
      <p:sp>
        <p:nvSpPr>
          <p:cNvPr id="13" name="Shape 11"/>
          <p:cNvSpPr/>
          <p:nvPr/>
        </p:nvSpPr>
        <p:spPr>
          <a:xfrm>
            <a:off x="9409176" y="2157984"/>
            <a:ext cx="429768" cy="0"/>
          </a:xfrm>
          <a:prstGeom prst="line">
            <a:avLst/>
          </a:prstGeom>
          <a:noFill/>
          <a:ln w="19050">
            <a:solidFill>
              <a:srgbClr val="6B7280"/>
            </a:solidFill>
            <a:prstDash val="solid"/>
            <a:tailEnd type="triangle"/>
          </a:ln>
        </p:spPr>
        <p:txBody>
          <a:bodyPr/>
          <a:lstStyle/>
          <a:p>
            <a:endParaRPr lang="en-US"/>
          </a:p>
        </p:txBody>
      </p:sp>
      <p:sp>
        <p:nvSpPr>
          <p:cNvPr id="14" name="Shape 12"/>
          <p:cNvSpPr/>
          <p:nvPr/>
        </p:nvSpPr>
        <p:spPr>
          <a:xfrm>
            <a:off x="9875520" y="1874520"/>
            <a:ext cx="1234440" cy="566928"/>
          </a:xfrm>
          <a:prstGeom prst="roundRect">
            <a:avLst>
              <a:gd name="adj" fmla="val 12903"/>
            </a:avLst>
          </a:prstGeom>
          <a:solidFill>
            <a:srgbClr val="FFFFFF"/>
          </a:solidFill>
          <a:ln w="19050">
            <a:solidFill>
              <a:srgbClr val="1E2761"/>
            </a:solidFill>
            <a:prstDash val="solid"/>
          </a:ln>
        </p:spPr>
        <p:txBody>
          <a:bodyPr/>
          <a:lstStyle/>
          <a:p>
            <a:endParaRPr lang="en-US"/>
          </a:p>
        </p:txBody>
      </p:sp>
      <p:sp>
        <p:nvSpPr>
          <p:cNvPr id="15" name="Text 13"/>
          <p:cNvSpPr/>
          <p:nvPr/>
        </p:nvSpPr>
        <p:spPr>
          <a:xfrm>
            <a:off x="9875520" y="1956816"/>
            <a:ext cx="1234440" cy="384048"/>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Moon</a:t>
            </a:r>
            <a:endParaRPr lang="en-US" sz="1200" dirty="0"/>
          </a:p>
        </p:txBody>
      </p:sp>
      <p:sp>
        <p:nvSpPr>
          <p:cNvPr id="16" name="Text 14"/>
          <p:cNvSpPr/>
          <p:nvPr/>
        </p:nvSpPr>
        <p:spPr>
          <a:xfrm>
            <a:off x="6400800" y="2651760"/>
            <a:ext cx="5120640" cy="29260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Each node stores the message and forwards it when a link is available.</a:t>
            </a:r>
            <a:endParaRPr lang="en-US" sz="1300" dirty="0"/>
          </a:p>
        </p:txBody>
      </p:sp>
      <p:sp>
        <p:nvSpPr>
          <p:cNvPr id="17" name="Text 15"/>
          <p:cNvSpPr/>
          <p:nvPr/>
        </p:nvSpPr>
        <p:spPr>
          <a:xfrm>
            <a:off x="6400800" y="2999232"/>
            <a:ext cx="5120640" cy="502920"/>
          </a:xfrm>
          <a:prstGeom prst="rect">
            <a:avLst/>
          </a:prstGeom>
          <a:noFill/>
          <a:ln/>
        </p:spPr>
        <p:txBody>
          <a:bodyPr wrap="square" lIns="0" tIns="0" rIns="0" bIns="0" rtlCol="0" anchor="ctr"/>
          <a:lstStyle/>
          <a:p>
            <a:pPr marL="0" indent="0">
              <a:lnSpc>
                <a:spcPts val="1700"/>
              </a:lnSpc>
              <a:buNone/>
            </a:pPr>
            <a:r>
              <a:rPr lang="en-US" sz="1300" dirty="0">
                <a:solidFill>
                  <a:srgbClr val="6B7280"/>
                </a:solidFill>
                <a:latin typeface="Calibri" pitchFamily="34" charset="0"/>
                <a:ea typeface="Calibri" pitchFamily="34" charset="-122"/>
                <a:cs typeface="Calibri" pitchFamily="34" charset="-120"/>
              </a:rPr>
              <a:t>Specified in RFC 4838 and RFC 9171. NASA's ION is one implementation of the Bundle Protocol.</a:t>
            </a:r>
            <a:endParaRPr lang="en-US" sz="1300" dirty="0"/>
          </a:p>
        </p:txBody>
      </p:sp>
      <p:sp>
        <p:nvSpPr>
          <p:cNvPr id="18" name="Shape 16"/>
          <p:cNvSpPr/>
          <p:nvPr/>
        </p:nvSpPr>
        <p:spPr>
          <a:xfrm>
            <a:off x="640080" y="3931920"/>
            <a:ext cx="10881360" cy="0"/>
          </a:xfrm>
          <a:prstGeom prst="line">
            <a:avLst/>
          </a:prstGeom>
          <a:noFill/>
          <a:ln w="12700">
            <a:solidFill>
              <a:srgbClr val="D8DEE9"/>
            </a:solidFill>
            <a:prstDash val="solid"/>
          </a:ln>
        </p:spPr>
        <p:txBody>
          <a:bodyPr/>
          <a:lstStyle/>
          <a:p>
            <a:endParaRPr lang="en-US"/>
          </a:p>
        </p:txBody>
      </p:sp>
      <p:sp>
        <p:nvSpPr>
          <p:cNvPr id="19" name="Text 17"/>
          <p:cNvSpPr/>
          <p:nvPr/>
        </p:nvSpPr>
        <p:spPr>
          <a:xfrm>
            <a:off x="640080" y="4160520"/>
            <a:ext cx="1088136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Email is already carried this way</a:t>
            </a:r>
            <a:endParaRPr lang="en-US" sz="1500" dirty="0"/>
          </a:p>
        </p:txBody>
      </p:sp>
      <p:sp>
        <p:nvSpPr>
          <p:cNvPr id="20" name="Shape 18"/>
          <p:cNvSpPr/>
          <p:nvPr/>
        </p:nvSpPr>
        <p:spPr>
          <a:xfrm>
            <a:off x="617220" y="4617720"/>
            <a:ext cx="196596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21" name="Text 19"/>
          <p:cNvSpPr/>
          <p:nvPr/>
        </p:nvSpPr>
        <p:spPr>
          <a:xfrm>
            <a:off x="617220" y="4681728"/>
            <a:ext cx="1965960" cy="56692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Mail server</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on Earth</a:t>
            </a:r>
            <a:endParaRPr lang="en-US" sz="1100" dirty="0"/>
          </a:p>
        </p:txBody>
      </p:sp>
      <p:sp>
        <p:nvSpPr>
          <p:cNvPr id="22" name="Shape 20"/>
          <p:cNvSpPr/>
          <p:nvPr/>
        </p:nvSpPr>
        <p:spPr>
          <a:xfrm>
            <a:off x="2610612" y="4965192"/>
            <a:ext cx="219456" cy="0"/>
          </a:xfrm>
          <a:prstGeom prst="line">
            <a:avLst/>
          </a:prstGeom>
          <a:noFill/>
          <a:ln w="15240">
            <a:solidFill>
              <a:srgbClr val="6B7280"/>
            </a:solidFill>
            <a:prstDash val="solid"/>
            <a:tailEnd type="triangle"/>
          </a:ln>
        </p:spPr>
        <p:txBody>
          <a:bodyPr/>
          <a:lstStyle/>
          <a:p>
            <a:endParaRPr lang="en-US"/>
          </a:p>
        </p:txBody>
      </p:sp>
      <p:sp>
        <p:nvSpPr>
          <p:cNvPr id="23" name="Shape 21"/>
          <p:cNvSpPr/>
          <p:nvPr/>
        </p:nvSpPr>
        <p:spPr>
          <a:xfrm>
            <a:off x="2857500" y="4617720"/>
            <a:ext cx="196596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24" name="Text 22"/>
          <p:cNvSpPr/>
          <p:nvPr/>
        </p:nvSpPr>
        <p:spPr>
          <a:xfrm>
            <a:off x="2857500" y="4681728"/>
            <a:ext cx="1965960" cy="56692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Gateway packs</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a bundle</a:t>
            </a:r>
            <a:endParaRPr lang="en-US" sz="1100" dirty="0"/>
          </a:p>
        </p:txBody>
      </p:sp>
      <p:sp>
        <p:nvSpPr>
          <p:cNvPr id="25" name="Shape 23"/>
          <p:cNvSpPr/>
          <p:nvPr/>
        </p:nvSpPr>
        <p:spPr>
          <a:xfrm>
            <a:off x="4850892" y="4965192"/>
            <a:ext cx="219456" cy="0"/>
          </a:xfrm>
          <a:prstGeom prst="line">
            <a:avLst/>
          </a:prstGeom>
          <a:noFill/>
          <a:ln w="15240">
            <a:solidFill>
              <a:srgbClr val="6B7280"/>
            </a:solidFill>
            <a:prstDash val="solid"/>
            <a:tailEnd type="triangle"/>
          </a:ln>
        </p:spPr>
        <p:txBody>
          <a:bodyPr/>
          <a:lstStyle/>
          <a:p>
            <a:endParaRPr lang="en-US"/>
          </a:p>
        </p:txBody>
      </p:sp>
      <p:sp>
        <p:nvSpPr>
          <p:cNvPr id="26" name="Shape 24"/>
          <p:cNvSpPr/>
          <p:nvPr/>
        </p:nvSpPr>
        <p:spPr>
          <a:xfrm>
            <a:off x="5097780" y="4617720"/>
            <a:ext cx="196596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27" name="Text 25"/>
          <p:cNvSpPr/>
          <p:nvPr/>
        </p:nvSpPr>
        <p:spPr>
          <a:xfrm>
            <a:off x="5097780" y="4681728"/>
            <a:ext cx="1965960" cy="56692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Bundle crosses</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the link</a:t>
            </a:r>
            <a:endParaRPr lang="en-US" sz="1100" dirty="0"/>
          </a:p>
        </p:txBody>
      </p:sp>
      <p:sp>
        <p:nvSpPr>
          <p:cNvPr id="28" name="Shape 26"/>
          <p:cNvSpPr/>
          <p:nvPr/>
        </p:nvSpPr>
        <p:spPr>
          <a:xfrm>
            <a:off x="7091172" y="4965192"/>
            <a:ext cx="219456" cy="0"/>
          </a:xfrm>
          <a:prstGeom prst="line">
            <a:avLst/>
          </a:prstGeom>
          <a:noFill/>
          <a:ln w="15240">
            <a:solidFill>
              <a:srgbClr val="6B7280"/>
            </a:solidFill>
            <a:prstDash val="solid"/>
            <a:tailEnd type="triangle"/>
          </a:ln>
        </p:spPr>
        <p:txBody>
          <a:bodyPr/>
          <a:lstStyle/>
          <a:p>
            <a:endParaRPr lang="en-US"/>
          </a:p>
        </p:txBody>
      </p:sp>
      <p:sp>
        <p:nvSpPr>
          <p:cNvPr id="29" name="Shape 27"/>
          <p:cNvSpPr/>
          <p:nvPr/>
        </p:nvSpPr>
        <p:spPr>
          <a:xfrm>
            <a:off x="7338060" y="4617720"/>
            <a:ext cx="196596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30" name="Text 28"/>
          <p:cNvSpPr/>
          <p:nvPr/>
        </p:nvSpPr>
        <p:spPr>
          <a:xfrm>
            <a:off x="7338060" y="4681728"/>
            <a:ext cx="1965960" cy="56692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Gateway</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rebuilds it</a:t>
            </a:r>
            <a:endParaRPr lang="en-US" sz="1100" dirty="0"/>
          </a:p>
        </p:txBody>
      </p:sp>
      <p:sp>
        <p:nvSpPr>
          <p:cNvPr id="31" name="Shape 29"/>
          <p:cNvSpPr/>
          <p:nvPr/>
        </p:nvSpPr>
        <p:spPr>
          <a:xfrm>
            <a:off x="9331452" y="4965192"/>
            <a:ext cx="219456" cy="0"/>
          </a:xfrm>
          <a:prstGeom prst="line">
            <a:avLst/>
          </a:prstGeom>
          <a:noFill/>
          <a:ln w="15240">
            <a:solidFill>
              <a:srgbClr val="6B7280"/>
            </a:solidFill>
            <a:prstDash val="solid"/>
            <a:tailEnd type="triangle"/>
          </a:ln>
        </p:spPr>
        <p:txBody>
          <a:bodyPr/>
          <a:lstStyle/>
          <a:p>
            <a:endParaRPr lang="en-US"/>
          </a:p>
        </p:txBody>
      </p:sp>
      <p:sp>
        <p:nvSpPr>
          <p:cNvPr id="32" name="Shape 30"/>
          <p:cNvSpPr/>
          <p:nvPr/>
        </p:nvSpPr>
        <p:spPr>
          <a:xfrm>
            <a:off x="9578340" y="4617720"/>
            <a:ext cx="196596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33" name="Text 31"/>
          <p:cNvSpPr/>
          <p:nvPr/>
        </p:nvSpPr>
        <p:spPr>
          <a:xfrm>
            <a:off x="9578340" y="4681728"/>
            <a:ext cx="1965960" cy="56692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Mail server</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on the Moon</a:t>
            </a:r>
            <a:endParaRPr lang="en-US" sz="1100" dirty="0"/>
          </a:p>
        </p:txBody>
      </p:sp>
      <p:sp>
        <p:nvSpPr>
          <p:cNvPr id="34" name="Text 32"/>
          <p:cNvSpPr/>
          <p:nvPr/>
        </p:nvSpPr>
        <p:spPr>
          <a:xfrm>
            <a:off x="640080" y="5760720"/>
            <a:ext cx="10881360" cy="347472"/>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Email transport over DTN is specified and implemented.</a:t>
            </a:r>
            <a:endParaRPr lang="en-US" sz="1400" dirty="0"/>
          </a:p>
        </p:txBody>
      </p:sp>
      <p:sp>
        <p:nvSpPr>
          <p:cNvPr id="900" name="Slide Number 2"/>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C26EA28B-D89D-42A3-AA89-94A2A4EB50F8}" type="slidenum">
              <a:rPr lang="en-US" sz="1100">
                <a:solidFill>
                  <a:srgbClr val="6B7280"/>
                </a:solidFill>
                <a:latin typeface="Calibri"/>
              </a:rPr>
              <a:t>2</a:t>
            </a:fld>
            <a:r>
              <a:rPr lang="en-US" sz="1100">
                <a:solidFill>
                  <a:srgbClr val="6B7280"/>
                </a:solidFill>
                <a:latin typeface="Calibri"/>
              </a:rPr>
              <a:t>/9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640080" y="1554480"/>
            <a:ext cx="5669280" cy="1005840"/>
          </a:xfrm>
          <a:prstGeom prst="rect">
            <a:avLst/>
          </a:prstGeom>
          <a:noFill/>
          <a:ln/>
        </p:spPr>
        <p:txBody>
          <a:bodyPr wrap="square" lIns="0" tIns="0" rIns="0" bIns="0" rtlCol="0" anchor="ctr"/>
          <a:lstStyle/>
          <a:p>
            <a:pPr marL="0" indent="0">
              <a:lnSpc>
                <a:spcPts val="3300"/>
              </a:lnSpc>
              <a:buNone/>
            </a:pPr>
            <a:r>
              <a:rPr lang="en-US" sz="2400" b="1" dirty="0">
                <a:solidFill>
                  <a:srgbClr val="1E2761"/>
                </a:solidFill>
                <a:latin typeface="Cambria" pitchFamily="34" charset="0"/>
                <a:ea typeface="Cambria" pitchFamily="34" charset="-122"/>
                <a:cs typeface="Cambria" pitchFamily="34" charset="-120"/>
              </a:rPr>
              <a:t>Email transport over DTN has been studied.</a:t>
            </a:r>
            <a:endParaRPr lang="en-US" sz="2400" dirty="0"/>
          </a:p>
          <a:p>
            <a:pPr marL="0" indent="0">
              <a:lnSpc>
                <a:spcPts val="3300"/>
              </a:lnSpc>
              <a:buNone/>
            </a:pPr>
            <a:r>
              <a:rPr lang="en-US" sz="2400" b="1" dirty="0">
                <a:solidFill>
                  <a:srgbClr val="1E2761"/>
                </a:solidFill>
                <a:latin typeface="Cambria" pitchFamily="34" charset="0"/>
                <a:ea typeface="Cambria" pitchFamily="34" charset="-122"/>
                <a:cs typeface="Cambria" pitchFamily="34" charset="-120"/>
              </a:rPr>
              <a:t>Filtering has not.</a:t>
            </a:r>
            <a:endParaRPr lang="en-US" sz="2400" dirty="0"/>
          </a:p>
        </p:txBody>
      </p:sp>
      <p:sp>
        <p:nvSpPr>
          <p:cNvPr id="4" name="Text 2"/>
          <p:cNvSpPr/>
          <p:nvPr/>
        </p:nvSpPr>
        <p:spPr>
          <a:xfrm>
            <a:off x="640080" y="2834640"/>
            <a:ext cx="5669280" cy="731520"/>
          </a:xfrm>
          <a:prstGeom prst="rect">
            <a:avLst/>
          </a:prstGeom>
          <a:noFill/>
          <a:ln/>
        </p:spPr>
        <p:txBody>
          <a:bodyPr wrap="square" lIns="0" tIns="0" rIns="0" bIns="0" rtlCol="0" anchor="ctr"/>
          <a:lstStyle/>
          <a:p>
            <a:pPr marL="0" indent="0">
              <a:lnSpc>
                <a:spcPts val="2000"/>
              </a:lnSpc>
              <a:buNone/>
            </a:pPr>
            <a:r>
              <a:rPr lang="en-US" sz="1400" dirty="0">
                <a:solidFill>
                  <a:srgbClr val="6B7280"/>
                </a:solidFill>
                <a:latin typeface="Calibri" pitchFamily="34" charset="0"/>
                <a:ea typeface="Calibri" pitchFamily="34" charset="-122"/>
                <a:cs typeface="Calibri" pitchFamily="34" charset="-120"/>
              </a:rPr>
              <a:t>Anti-spam tools do not only read the message. Each check is a network lookup: DNS blocklists, sender reputation, shared spam databases.</a:t>
            </a:r>
            <a:endParaRPr lang="en-US" sz="1400" dirty="0"/>
          </a:p>
        </p:txBody>
      </p:sp>
      <p:sp>
        <p:nvSpPr>
          <p:cNvPr id="5" name="Text 3"/>
          <p:cNvSpPr/>
          <p:nvPr/>
        </p:nvSpPr>
        <p:spPr>
          <a:xfrm>
            <a:off x="640080" y="3749040"/>
            <a:ext cx="5669280" cy="365760"/>
          </a:xfrm>
          <a:prstGeom prst="rect">
            <a:avLst/>
          </a:prstGeom>
          <a:noFill/>
          <a:ln/>
        </p:spPr>
        <p:txBody>
          <a:bodyPr wrap="square" lIns="0" tIns="0" rIns="0" bIns="0" rtlCol="0" anchor="ctr"/>
          <a:lstStyle/>
          <a:p>
            <a:pPr marL="0" indent="0">
              <a:buNone/>
            </a:pPr>
            <a:r>
              <a:rPr lang="en-US" sz="1500" b="1" dirty="0">
                <a:solidFill>
                  <a:srgbClr val="E8833A"/>
                </a:solidFill>
                <a:latin typeface="Calibri" pitchFamily="34" charset="0"/>
                <a:ea typeface="Calibri" pitchFamily="34" charset="-122"/>
                <a:cs typeface="Calibri" pitchFamily="34" charset="-120"/>
              </a:rPr>
              <a:t>On the Moon node, each lookup takes 2.6 s.</a:t>
            </a:r>
            <a:endParaRPr lang="en-US" sz="1500" dirty="0"/>
          </a:p>
        </p:txBody>
      </p:sp>
      <p:sp>
        <p:nvSpPr>
          <p:cNvPr id="6" name="Text 4"/>
          <p:cNvSpPr/>
          <p:nvPr/>
        </p:nvSpPr>
        <p:spPr>
          <a:xfrm>
            <a:off x="640080" y="4160520"/>
            <a:ext cx="566928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The effect on filtering has not been measured.</a:t>
            </a:r>
            <a:endParaRPr lang="en-US" sz="1500" dirty="0"/>
          </a:p>
        </p:txBody>
      </p:sp>
      <p:sp>
        <p:nvSpPr>
          <p:cNvPr id="7" name="Text 5"/>
          <p:cNvSpPr/>
          <p:nvPr/>
        </p:nvSpPr>
        <p:spPr>
          <a:xfrm>
            <a:off x="6766560" y="1554480"/>
            <a:ext cx="47548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One scan on the Moon node</a:t>
            </a:r>
            <a:endParaRPr lang="en-US" sz="1500" dirty="0"/>
          </a:p>
        </p:txBody>
      </p:sp>
      <p:sp>
        <p:nvSpPr>
          <p:cNvPr id="8" name="Shape 6"/>
          <p:cNvSpPr/>
          <p:nvPr/>
        </p:nvSpPr>
        <p:spPr>
          <a:xfrm>
            <a:off x="6766560" y="2057400"/>
            <a:ext cx="4754880" cy="530352"/>
          </a:xfrm>
          <a:prstGeom prst="roundRect">
            <a:avLst>
              <a:gd name="adj" fmla="val 10345"/>
            </a:avLst>
          </a:prstGeom>
          <a:solidFill>
            <a:srgbClr val="F5F7FA"/>
          </a:solidFill>
          <a:ln w="12700">
            <a:solidFill>
              <a:srgbClr val="D8DEE9"/>
            </a:solidFill>
            <a:prstDash val="solid"/>
          </a:ln>
        </p:spPr>
        <p:txBody>
          <a:bodyPr/>
          <a:lstStyle/>
          <a:p>
            <a:endParaRPr lang="en-US"/>
          </a:p>
        </p:txBody>
      </p:sp>
      <p:sp>
        <p:nvSpPr>
          <p:cNvPr id="9" name="Text 7"/>
          <p:cNvSpPr/>
          <p:nvPr/>
        </p:nvSpPr>
        <p:spPr>
          <a:xfrm>
            <a:off x="6949440" y="2139696"/>
            <a:ext cx="3017520" cy="3657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Read the message</a:t>
            </a:r>
            <a:endParaRPr lang="en-US" sz="1250" dirty="0"/>
          </a:p>
        </p:txBody>
      </p:sp>
      <p:sp>
        <p:nvSpPr>
          <p:cNvPr id="10" name="Text 8"/>
          <p:cNvSpPr/>
          <p:nvPr/>
        </p:nvSpPr>
        <p:spPr>
          <a:xfrm>
            <a:off x="10058400" y="2139696"/>
            <a:ext cx="1280160" cy="365760"/>
          </a:xfrm>
          <a:prstGeom prst="rect">
            <a:avLst/>
          </a:prstGeom>
          <a:noFill/>
          <a:ln/>
        </p:spPr>
        <p:txBody>
          <a:bodyPr wrap="square" lIns="0" tIns="0" rIns="0" bIns="0" rtlCol="0" anchor="ctr"/>
          <a:lstStyle/>
          <a:p>
            <a:pPr marL="0" indent="0" algn="r">
              <a:buNone/>
            </a:pPr>
            <a:r>
              <a:rPr lang="en-US" sz="1200" b="1" dirty="0">
                <a:solidFill>
                  <a:srgbClr val="6B7280"/>
                </a:solidFill>
                <a:latin typeface="Calibri" pitchFamily="34" charset="0"/>
                <a:ea typeface="Calibri" pitchFamily="34" charset="-122"/>
                <a:cs typeface="Calibri" pitchFamily="34" charset="-120"/>
              </a:rPr>
              <a:t>instant</a:t>
            </a:r>
            <a:endParaRPr lang="en-US" sz="1200" dirty="0"/>
          </a:p>
        </p:txBody>
      </p:sp>
      <p:sp>
        <p:nvSpPr>
          <p:cNvPr id="11" name="Shape 9"/>
          <p:cNvSpPr/>
          <p:nvPr/>
        </p:nvSpPr>
        <p:spPr>
          <a:xfrm>
            <a:off x="6766560" y="2679192"/>
            <a:ext cx="4754880" cy="530352"/>
          </a:xfrm>
          <a:prstGeom prst="roundRect">
            <a:avLst>
              <a:gd name="adj" fmla="val 10345"/>
            </a:avLst>
          </a:prstGeom>
          <a:solidFill>
            <a:srgbClr val="F5F7FA"/>
          </a:solidFill>
          <a:ln w="12700">
            <a:solidFill>
              <a:srgbClr val="E8833A"/>
            </a:solidFill>
            <a:prstDash val="solid"/>
          </a:ln>
        </p:spPr>
        <p:txBody>
          <a:bodyPr/>
          <a:lstStyle/>
          <a:p>
            <a:endParaRPr lang="en-US"/>
          </a:p>
        </p:txBody>
      </p:sp>
      <p:sp>
        <p:nvSpPr>
          <p:cNvPr id="12" name="Text 10"/>
          <p:cNvSpPr/>
          <p:nvPr/>
        </p:nvSpPr>
        <p:spPr>
          <a:xfrm>
            <a:off x="6949440" y="2761488"/>
            <a:ext cx="3017520" cy="3657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Check the sender IP</a:t>
            </a:r>
            <a:endParaRPr lang="en-US" sz="1250" dirty="0"/>
          </a:p>
        </p:txBody>
      </p:sp>
      <p:sp>
        <p:nvSpPr>
          <p:cNvPr id="13" name="Text 11"/>
          <p:cNvSpPr/>
          <p:nvPr/>
        </p:nvSpPr>
        <p:spPr>
          <a:xfrm>
            <a:off x="10058400" y="2761488"/>
            <a:ext cx="1280160" cy="365760"/>
          </a:xfrm>
          <a:prstGeom prst="rect">
            <a:avLst/>
          </a:prstGeom>
          <a:noFill/>
          <a:ln/>
        </p:spPr>
        <p:txBody>
          <a:bodyPr wrap="square" lIns="0" tIns="0" rIns="0" bIns="0" rtlCol="0" anchor="ctr"/>
          <a:lstStyle/>
          <a:p>
            <a:pPr marL="0" indent="0" algn="r">
              <a:buNone/>
            </a:pPr>
            <a:r>
              <a:rPr lang="en-US" sz="1200" b="1" dirty="0">
                <a:solidFill>
                  <a:srgbClr val="E8833A"/>
                </a:solidFill>
                <a:latin typeface="Calibri" pitchFamily="34" charset="0"/>
                <a:ea typeface="Calibri" pitchFamily="34" charset="-122"/>
                <a:cs typeface="Calibri" pitchFamily="34" charset="-120"/>
              </a:rPr>
              <a:t>2.6 s</a:t>
            </a:r>
            <a:endParaRPr lang="en-US" sz="1200" dirty="0"/>
          </a:p>
        </p:txBody>
      </p:sp>
      <p:sp>
        <p:nvSpPr>
          <p:cNvPr id="14" name="Shape 12"/>
          <p:cNvSpPr/>
          <p:nvPr/>
        </p:nvSpPr>
        <p:spPr>
          <a:xfrm>
            <a:off x="6766560" y="3300984"/>
            <a:ext cx="4754880" cy="530352"/>
          </a:xfrm>
          <a:prstGeom prst="roundRect">
            <a:avLst>
              <a:gd name="adj" fmla="val 10345"/>
            </a:avLst>
          </a:prstGeom>
          <a:solidFill>
            <a:srgbClr val="F5F7FA"/>
          </a:solidFill>
          <a:ln w="12700">
            <a:solidFill>
              <a:srgbClr val="E8833A"/>
            </a:solidFill>
            <a:prstDash val="solid"/>
          </a:ln>
        </p:spPr>
        <p:txBody>
          <a:bodyPr/>
          <a:lstStyle/>
          <a:p>
            <a:endParaRPr lang="en-US"/>
          </a:p>
        </p:txBody>
      </p:sp>
      <p:sp>
        <p:nvSpPr>
          <p:cNvPr id="15" name="Text 13"/>
          <p:cNvSpPr/>
          <p:nvPr/>
        </p:nvSpPr>
        <p:spPr>
          <a:xfrm>
            <a:off x="6949440" y="3383280"/>
            <a:ext cx="3017520" cy="3657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Check each URL</a:t>
            </a:r>
            <a:endParaRPr lang="en-US" sz="1250" dirty="0"/>
          </a:p>
        </p:txBody>
      </p:sp>
      <p:sp>
        <p:nvSpPr>
          <p:cNvPr id="16" name="Text 14"/>
          <p:cNvSpPr/>
          <p:nvPr/>
        </p:nvSpPr>
        <p:spPr>
          <a:xfrm>
            <a:off x="10058400" y="3383280"/>
            <a:ext cx="1280160" cy="365760"/>
          </a:xfrm>
          <a:prstGeom prst="rect">
            <a:avLst/>
          </a:prstGeom>
          <a:noFill/>
          <a:ln/>
        </p:spPr>
        <p:txBody>
          <a:bodyPr wrap="square" lIns="0" tIns="0" rIns="0" bIns="0" rtlCol="0" anchor="ctr"/>
          <a:lstStyle/>
          <a:p>
            <a:pPr marL="0" indent="0" algn="r">
              <a:buNone/>
            </a:pPr>
            <a:r>
              <a:rPr lang="en-US" sz="1200" b="1" dirty="0">
                <a:solidFill>
                  <a:srgbClr val="E8833A"/>
                </a:solidFill>
                <a:latin typeface="Calibri" pitchFamily="34" charset="0"/>
                <a:ea typeface="Calibri" pitchFamily="34" charset="-122"/>
                <a:cs typeface="Calibri" pitchFamily="34" charset="-120"/>
              </a:rPr>
              <a:t>2.6 s</a:t>
            </a:r>
            <a:endParaRPr lang="en-US" sz="1200" dirty="0"/>
          </a:p>
        </p:txBody>
      </p:sp>
      <p:sp>
        <p:nvSpPr>
          <p:cNvPr id="17" name="Shape 15"/>
          <p:cNvSpPr/>
          <p:nvPr/>
        </p:nvSpPr>
        <p:spPr>
          <a:xfrm>
            <a:off x="6766560" y="3922776"/>
            <a:ext cx="4754880" cy="530352"/>
          </a:xfrm>
          <a:prstGeom prst="roundRect">
            <a:avLst>
              <a:gd name="adj" fmla="val 10345"/>
            </a:avLst>
          </a:prstGeom>
          <a:solidFill>
            <a:srgbClr val="F5F7FA"/>
          </a:solidFill>
          <a:ln w="12700">
            <a:solidFill>
              <a:srgbClr val="E8833A"/>
            </a:solidFill>
            <a:prstDash val="solid"/>
          </a:ln>
        </p:spPr>
        <p:txBody>
          <a:bodyPr/>
          <a:lstStyle/>
          <a:p>
            <a:endParaRPr lang="en-US"/>
          </a:p>
        </p:txBody>
      </p:sp>
      <p:sp>
        <p:nvSpPr>
          <p:cNvPr id="18" name="Text 16"/>
          <p:cNvSpPr/>
          <p:nvPr/>
        </p:nvSpPr>
        <p:spPr>
          <a:xfrm>
            <a:off x="6949440" y="4005072"/>
            <a:ext cx="3017520" cy="3657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Follow-up lookups</a:t>
            </a:r>
            <a:endParaRPr lang="en-US" sz="1250" dirty="0"/>
          </a:p>
        </p:txBody>
      </p:sp>
      <p:sp>
        <p:nvSpPr>
          <p:cNvPr id="19" name="Text 17"/>
          <p:cNvSpPr/>
          <p:nvPr/>
        </p:nvSpPr>
        <p:spPr>
          <a:xfrm>
            <a:off x="10058400" y="4005072"/>
            <a:ext cx="1280160" cy="365760"/>
          </a:xfrm>
          <a:prstGeom prst="rect">
            <a:avLst/>
          </a:prstGeom>
          <a:noFill/>
          <a:ln/>
        </p:spPr>
        <p:txBody>
          <a:bodyPr wrap="square" lIns="0" tIns="0" rIns="0" bIns="0" rtlCol="0" anchor="ctr"/>
          <a:lstStyle/>
          <a:p>
            <a:pPr marL="0" indent="0" algn="r">
              <a:buNone/>
            </a:pPr>
            <a:r>
              <a:rPr lang="en-US" sz="1200" b="1" dirty="0">
                <a:solidFill>
                  <a:srgbClr val="E8833A"/>
                </a:solidFill>
                <a:latin typeface="Calibri" pitchFamily="34" charset="0"/>
                <a:ea typeface="Calibri" pitchFamily="34" charset="-122"/>
                <a:cs typeface="Calibri" pitchFamily="34" charset="-120"/>
              </a:rPr>
              <a:t>2.6 s</a:t>
            </a:r>
            <a:endParaRPr lang="en-US" sz="1200" dirty="0"/>
          </a:p>
        </p:txBody>
      </p:sp>
      <p:sp>
        <p:nvSpPr>
          <p:cNvPr id="20" name="Shape 18"/>
          <p:cNvSpPr/>
          <p:nvPr/>
        </p:nvSpPr>
        <p:spPr>
          <a:xfrm>
            <a:off x="6766560" y="4544568"/>
            <a:ext cx="4754880" cy="530352"/>
          </a:xfrm>
          <a:prstGeom prst="roundRect">
            <a:avLst>
              <a:gd name="adj" fmla="val 10345"/>
            </a:avLst>
          </a:prstGeom>
          <a:solidFill>
            <a:srgbClr val="F5F7FA"/>
          </a:solidFill>
          <a:ln w="12700">
            <a:solidFill>
              <a:srgbClr val="D8DEE9"/>
            </a:solidFill>
            <a:prstDash val="solid"/>
          </a:ln>
        </p:spPr>
        <p:txBody>
          <a:bodyPr/>
          <a:lstStyle/>
          <a:p>
            <a:endParaRPr lang="en-US"/>
          </a:p>
        </p:txBody>
      </p:sp>
      <p:sp>
        <p:nvSpPr>
          <p:cNvPr id="21" name="Text 19"/>
          <p:cNvSpPr/>
          <p:nvPr/>
        </p:nvSpPr>
        <p:spPr>
          <a:xfrm>
            <a:off x="6949440" y="4626864"/>
            <a:ext cx="3017520" cy="3657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Produce a verdict</a:t>
            </a:r>
            <a:endParaRPr lang="en-US" sz="1250" dirty="0"/>
          </a:p>
        </p:txBody>
      </p:sp>
      <p:sp>
        <p:nvSpPr>
          <p:cNvPr id="22" name="Text 20"/>
          <p:cNvSpPr/>
          <p:nvPr/>
        </p:nvSpPr>
        <p:spPr>
          <a:xfrm>
            <a:off x="10058400" y="4626864"/>
            <a:ext cx="1280160" cy="365760"/>
          </a:xfrm>
          <a:prstGeom prst="rect">
            <a:avLst/>
          </a:prstGeom>
          <a:noFill/>
          <a:ln/>
        </p:spPr>
        <p:txBody>
          <a:bodyPr wrap="square" lIns="0" tIns="0" rIns="0" bIns="0" rtlCol="0" anchor="ctr"/>
          <a:lstStyle/>
          <a:p>
            <a:pPr marL="0" indent="0" algn="r">
              <a:buNone/>
            </a:pPr>
            <a:r>
              <a:rPr lang="en-US" sz="1200" b="1" dirty="0">
                <a:solidFill>
                  <a:srgbClr val="6B7280"/>
                </a:solidFill>
                <a:latin typeface="Calibri" pitchFamily="34" charset="0"/>
                <a:ea typeface="Calibri" pitchFamily="34" charset="-122"/>
                <a:cs typeface="Calibri" pitchFamily="34" charset="-120"/>
              </a:rPr>
              <a:t>—</a:t>
            </a:r>
            <a:endParaRPr lang="en-US" sz="1200" dirty="0"/>
          </a:p>
        </p:txBody>
      </p:sp>
      <p:sp>
        <p:nvSpPr>
          <p:cNvPr id="900" name="Slide Number 3"/>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A7959BB0-C30F-4C3E-9C5B-5116680B6FF5}" type="slidenum">
              <a:rPr lang="en-US" sz="1100">
                <a:solidFill>
                  <a:srgbClr val="6B7280"/>
                </a:solidFill>
                <a:latin typeface="Calibri"/>
              </a:rPr>
              <a:t>3</a:t>
            </a:fld>
            <a:r>
              <a:rPr lang="en-US" sz="1100">
                <a:solidFill>
                  <a:srgbClr val="6B7280"/>
                </a:solidFill>
                <a:latin typeface="Calibri"/>
              </a:rPr>
              <a:t>/9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Research Question</a:t>
            </a:r>
            <a:endParaRPr lang="en-US" sz="3200" dirty="0"/>
          </a:p>
        </p:txBody>
      </p:sp>
      <p:sp>
        <p:nvSpPr>
          <p:cNvPr id="3" name="Shape 1"/>
          <p:cNvSpPr/>
          <p:nvPr/>
        </p:nvSpPr>
        <p:spPr>
          <a:xfrm>
            <a:off x="640080" y="1463040"/>
            <a:ext cx="10972800" cy="1097280"/>
          </a:xfrm>
          <a:prstGeom prst="roundRect">
            <a:avLst>
              <a:gd name="adj" fmla="val 8333"/>
            </a:avLst>
          </a:prstGeom>
          <a:solidFill>
            <a:srgbClr val="1E2761"/>
          </a:solidFill>
          <a:ln w="12700">
            <a:solidFill>
              <a:srgbClr val="1E2761"/>
            </a:solidFill>
            <a:prstDash val="solid"/>
          </a:ln>
        </p:spPr>
        <p:txBody>
          <a:bodyPr/>
          <a:lstStyle/>
          <a:p>
            <a:endParaRPr lang="en-US"/>
          </a:p>
        </p:txBody>
      </p:sp>
      <p:sp>
        <p:nvSpPr>
          <p:cNvPr id="4" name="Text 2"/>
          <p:cNvSpPr/>
          <p:nvPr/>
        </p:nvSpPr>
        <p:spPr>
          <a:xfrm>
            <a:off x="914400" y="1627632"/>
            <a:ext cx="10424160" cy="777240"/>
          </a:xfrm>
          <a:prstGeom prst="rect">
            <a:avLst/>
          </a:prstGeom>
          <a:noFill/>
          <a:ln/>
        </p:spPr>
        <p:txBody>
          <a:bodyPr wrap="square" lIns="0" tIns="0" rIns="0" bIns="0" rtlCol="0" anchor="ctr"/>
          <a:lstStyle/>
          <a:p>
            <a:pPr marL="0" indent="0">
              <a:lnSpc>
                <a:spcPts val="2800"/>
              </a:lnSpc>
              <a:buNone/>
            </a:pPr>
            <a:r>
              <a:rPr lang="en-US" sz="2000" b="1" dirty="0">
                <a:solidFill>
                  <a:srgbClr val="FFFFFF"/>
                </a:solidFill>
                <a:latin typeface="Cambria" pitchFamily="34" charset="0"/>
                <a:ea typeface="Cambria" pitchFamily="34" charset="-122"/>
                <a:cs typeface="Cambria" pitchFamily="34" charset="-120"/>
              </a:rPr>
              <a:t>How do existing anti-spam tools behave over a delay-tolerant link,</a:t>
            </a:r>
            <a:endParaRPr lang="en-US" sz="2000" dirty="0"/>
          </a:p>
          <a:p>
            <a:pPr marL="0" indent="0">
              <a:lnSpc>
                <a:spcPts val="2800"/>
              </a:lnSpc>
              <a:buNone/>
            </a:pPr>
            <a:r>
              <a:rPr lang="en-US" sz="2000" b="1" dirty="0">
                <a:solidFill>
                  <a:srgbClr val="FFFFFF"/>
                </a:solidFill>
                <a:latin typeface="Cambria" pitchFamily="34" charset="0"/>
                <a:ea typeface="Cambria" pitchFamily="34" charset="-122"/>
                <a:cs typeface="Cambria" pitchFamily="34" charset="-120"/>
              </a:rPr>
              <a:t>and what mechanisms drive that behaviour?</a:t>
            </a:r>
            <a:endParaRPr lang="en-US" sz="2000" dirty="0"/>
          </a:p>
        </p:txBody>
      </p:sp>
      <p:sp>
        <p:nvSpPr>
          <p:cNvPr id="5" name="Text 3"/>
          <p:cNvSpPr/>
          <p:nvPr/>
        </p:nvSpPr>
        <p:spPr>
          <a:xfrm>
            <a:off x="640080" y="306324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Network dependence</a:t>
            </a:r>
            <a:endParaRPr lang="en-US" sz="1500" dirty="0"/>
          </a:p>
        </p:txBody>
      </p:sp>
      <p:sp>
        <p:nvSpPr>
          <p:cNvPr id="6" name="Text 4"/>
          <p:cNvSpPr/>
          <p:nvPr/>
        </p:nvSpPr>
        <p:spPr>
          <a:xfrm>
            <a:off x="640080" y="3401568"/>
            <a:ext cx="3383280" cy="640080"/>
          </a:xfrm>
          <a:prstGeom prst="rect">
            <a:avLst/>
          </a:prstGeom>
          <a:noFill/>
          <a:ln/>
        </p:spPr>
        <p:txBody>
          <a:bodyPr wrap="square" lIns="0" tIns="0" rIns="0" bIns="0" rtlCol="0" anchor="ctr"/>
          <a:lstStyle/>
          <a:p>
            <a:pPr marL="0" indent="0">
              <a:lnSpc>
                <a:spcPts val="1700"/>
              </a:lnSpc>
              <a:buNone/>
            </a:pPr>
            <a:r>
              <a:rPr lang="en-US" sz="1300" dirty="0">
                <a:solidFill>
                  <a:srgbClr val="6B7280"/>
                </a:solidFill>
                <a:latin typeface="Calibri" pitchFamily="34" charset="0"/>
                <a:ea typeface="Calibri" pitchFamily="34" charset="-122"/>
                <a:cs typeface="Calibri" pitchFamily="34" charset="-120"/>
              </a:rPr>
              <a:t>How does each tool's network dependence interact with delay?</a:t>
            </a:r>
            <a:endParaRPr lang="en-US" sz="1300" dirty="0"/>
          </a:p>
        </p:txBody>
      </p:sp>
      <p:sp>
        <p:nvSpPr>
          <p:cNvPr id="7" name="Text 5"/>
          <p:cNvSpPr/>
          <p:nvPr/>
        </p:nvSpPr>
        <p:spPr>
          <a:xfrm>
            <a:off x="4389120" y="306324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Failure modes</a:t>
            </a:r>
            <a:endParaRPr lang="en-US" sz="1500" dirty="0"/>
          </a:p>
        </p:txBody>
      </p:sp>
      <p:sp>
        <p:nvSpPr>
          <p:cNvPr id="8" name="Text 6"/>
          <p:cNvSpPr/>
          <p:nvPr/>
        </p:nvSpPr>
        <p:spPr>
          <a:xfrm>
            <a:off x="4389120" y="3401568"/>
            <a:ext cx="3383280" cy="640080"/>
          </a:xfrm>
          <a:prstGeom prst="rect">
            <a:avLst/>
          </a:prstGeom>
          <a:noFill/>
          <a:ln/>
        </p:spPr>
        <p:txBody>
          <a:bodyPr wrap="square" lIns="0" tIns="0" rIns="0" bIns="0" rtlCol="0" anchor="ctr"/>
          <a:lstStyle/>
          <a:p>
            <a:pPr marL="0" indent="0">
              <a:lnSpc>
                <a:spcPts val="1700"/>
              </a:lnSpc>
              <a:buNone/>
            </a:pPr>
            <a:r>
              <a:rPr lang="en-US" sz="1300" dirty="0">
                <a:solidFill>
                  <a:srgbClr val="6B7280"/>
                </a:solidFill>
                <a:latin typeface="Calibri" pitchFamily="34" charset="0"/>
                <a:ea typeface="Calibri" pitchFamily="34" charset="-122"/>
                <a:cs typeface="Calibri" pitchFamily="34" charset="-120"/>
              </a:rPr>
              <a:t>What fails under delay, and what causes it?</a:t>
            </a:r>
            <a:endParaRPr lang="en-US" sz="1300" dirty="0"/>
          </a:p>
        </p:txBody>
      </p:sp>
      <p:sp>
        <p:nvSpPr>
          <p:cNvPr id="9" name="Text 7"/>
          <p:cNvSpPr/>
          <p:nvPr/>
        </p:nvSpPr>
        <p:spPr>
          <a:xfrm>
            <a:off x="8138160" y="306324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Timeouts</a:t>
            </a:r>
            <a:endParaRPr lang="en-US" sz="1500" dirty="0"/>
          </a:p>
        </p:txBody>
      </p:sp>
      <p:sp>
        <p:nvSpPr>
          <p:cNvPr id="10" name="Text 8"/>
          <p:cNvSpPr/>
          <p:nvPr/>
        </p:nvSpPr>
        <p:spPr>
          <a:xfrm>
            <a:off x="8138160" y="3401568"/>
            <a:ext cx="3383280" cy="640080"/>
          </a:xfrm>
          <a:prstGeom prst="rect">
            <a:avLst/>
          </a:prstGeom>
          <a:noFill/>
          <a:ln/>
        </p:spPr>
        <p:txBody>
          <a:bodyPr wrap="square" lIns="0" tIns="0" rIns="0" bIns="0" rtlCol="0" anchor="ctr"/>
          <a:lstStyle/>
          <a:p>
            <a:pPr marL="0" indent="0">
              <a:lnSpc>
                <a:spcPts val="1700"/>
              </a:lnSpc>
              <a:buNone/>
            </a:pPr>
            <a:r>
              <a:rPr lang="en-US" sz="1300" dirty="0">
                <a:solidFill>
                  <a:srgbClr val="6B7280"/>
                </a:solidFill>
                <a:latin typeface="Calibri" pitchFamily="34" charset="0"/>
                <a:ea typeface="Calibri" pitchFamily="34" charset="-122"/>
                <a:cs typeface="Calibri" pitchFamily="34" charset="-120"/>
              </a:rPr>
              <a:t>How do the tools' own timeout settings behave under delay?</a:t>
            </a:r>
            <a:endParaRPr lang="en-US" sz="1300" dirty="0"/>
          </a:p>
        </p:txBody>
      </p:sp>
      <p:sp>
        <p:nvSpPr>
          <p:cNvPr id="11" name="Shape 9"/>
          <p:cNvSpPr/>
          <p:nvPr/>
        </p:nvSpPr>
        <p:spPr>
          <a:xfrm>
            <a:off x="640080" y="4480560"/>
            <a:ext cx="10972800" cy="0"/>
          </a:xfrm>
          <a:prstGeom prst="line">
            <a:avLst/>
          </a:prstGeom>
          <a:noFill/>
          <a:ln w="12700">
            <a:solidFill>
              <a:srgbClr val="D8DEE9"/>
            </a:solidFill>
            <a:prstDash val="solid"/>
          </a:ln>
        </p:spPr>
        <p:txBody>
          <a:bodyPr/>
          <a:lstStyle/>
          <a:p>
            <a:endParaRPr lang="en-US"/>
          </a:p>
        </p:txBody>
      </p:sp>
      <p:sp>
        <p:nvSpPr>
          <p:cNvPr id="12" name="Text 10"/>
          <p:cNvSpPr/>
          <p:nvPr/>
        </p:nvSpPr>
        <p:spPr>
          <a:xfrm>
            <a:off x="640080" y="4709160"/>
            <a:ext cx="109728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Scope</a:t>
            </a:r>
            <a:endParaRPr lang="en-US" sz="1400" dirty="0"/>
          </a:p>
        </p:txBody>
      </p:sp>
      <p:sp>
        <p:nvSpPr>
          <p:cNvPr id="13" name="Text 11"/>
          <p:cNvSpPr/>
          <p:nvPr/>
        </p:nvSpPr>
        <p:spPr>
          <a:xfrm>
            <a:off x="640080" y="5029200"/>
            <a:ext cx="109728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behavioural study. It characterises and explains the response to delay. It does not propose a filtering system for interplanetary email.</a:t>
            </a:r>
            <a:endParaRPr lang="en-US" sz="1400" dirty="0"/>
          </a:p>
        </p:txBody>
      </p:sp>
      <p:sp>
        <p:nvSpPr>
          <p:cNvPr id="900" name="Slide Number 4"/>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6BFCD044-3FD5-4F07-8CF8-84A3067D21BA}" type="slidenum">
              <a:rPr lang="en-US" sz="1100">
                <a:solidFill>
                  <a:srgbClr val="6B7280"/>
                </a:solidFill>
                <a:latin typeface="Calibri"/>
              </a:rPr>
              <a:t>4</a:t>
            </a:fld>
            <a:r>
              <a:rPr lang="en-US" sz="1100">
                <a:solidFill>
                  <a:srgbClr val="6B7280"/>
                </a:solidFill>
                <a:latin typeface="Calibri"/>
              </a:rPr>
              <a:t>/9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Testbed</a:t>
            </a:r>
            <a:endParaRPr lang="en-US" sz="3200" dirty="0"/>
          </a:p>
        </p:txBody>
      </p:sp>
      <p:sp>
        <p:nvSpPr>
          <p:cNvPr id="3" name="Shape 1"/>
          <p:cNvSpPr/>
          <p:nvPr/>
        </p:nvSpPr>
        <p:spPr>
          <a:xfrm>
            <a:off x="640080" y="1600200"/>
            <a:ext cx="4206240" cy="2011680"/>
          </a:xfrm>
          <a:prstGeom prst="roundRect">
            <a:avLst>
              <a:gd name="adj" fmla="val 4545"/>
            </a:avLst>
          </a:prstGeom>
          <a:solidFill>
            <a:srgbClr val="F5F7FA"/>
          </a:solidFill>
          <a:ln w="19050">
            <a:solidFill>
              <a:srgbClr val="1E2761"/>
            </a:solidFill>
            <a:prstDash val="solid"/>
          </a:ln>
        </p:spPr>
        <p:txBody>
          <a:bodyPr/>
          <a:lstStyle/>
          <a:p>
            <a:endParaRPr lang="en-US"/>
          </a:p>
        </p:txBody>
      </p:sp>
      <p:sp>
        <p:nvSpPr>
          <p:cNvPr id="4" name="Text 2"/>
          <p:cNvSpPr/>
          <p:nvPr/>
        </p:nvSpPr>
        <p:spPr>
          <a:xfrm>
            <a:off x="822960" y="1719072"/>
            <a:ext cx="38404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Earth  —  192.168.100.0/24</a:t>
            </a:r>
            <a:endParaRPr lang="en-US" sz="1150" dirty="0"/>
          </a:p>
        </p:txBody>
      </p:sp>
      <p:sp>
        <p:nvSpPr>
          <p:cNvPr id="5" name="Shape 3"/>
          <p:cNvSpPr/>
          <p:nvPr/>
        </p:nvSpPr>
        <p:spPr>
          <a:xfrm>
            <a:off x="7315200" y="1600200"/>
            <a:ext cx="4206240" cy="2011680"/>
          </a:xfrm>
          <a:prstGeom prst="roundRect">
            <a:avLst>
              <a:gd name="adj" fmla="val 4545"/>
            </a:avLst>
          </a:prstGeom>
          <a:solidFill>
            <a:srgbClr val="F5F7FA"/>
          </a:solidFill>
          <a:ln w="19050">
            <a:solidFill>
              <a:srgbClr val="1E2761"/>
            </a:solidFill>
            <a:prstDash val="solid"/>
          </a:ln>
        </p:spPr>
        <p:txBody>
          <a:bodyPr/>
          <a:lstStyle/>
          <a:p>
            <a:endParaRPr lang="en-US"/>
          </a:p>
        </p:txBody>
      </p:sp>
      <p:sp>
        <p:nvSpPr>
          <p:cNvPr id="6" name="Text 4"/>
          <p:cNvSpPr/>
          <p:nvPr/>
        </p:nvSpPr>
        <p:spPr>
          <a:xfrm>
            <a:off x="7498080" y="1719072"/>
            <a:ext cx="38404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Moon  —  192.168.200.0/24</a:t>
            </a:r>
            <a:endParaRPr lang="en-US" sz="1150" dirty="0"/>
          </a:p>
        </p:txBody>
      </p:sp>
      <p:sp>
        <p:nvSpPr>
          <p:cNvPr id="7" name="Shape 5"/>
          <p:cNvSpPr/>
          <p:nvPr/>
        </p:nvSpPr>
        <p:spPr>
          <a:xfrm>
            <a:off x="822960" y="2103120"/>
            <a:ext cx="1783080" cy="1280160"/>
          </a:xfrm>
          <a:prstGeom prst="roundRect">
            <a:avLst>
              <a:gd name="adj" fmla="val 5714"/>
            </a:avLst>
          </a:prstGeom>
          <a:solidFill>
            <a:srgbClr val="FFFFFF"/>
          </a:solidFill>
          <a:ln w="15875">
            <a:solidFill>
              <a:srgbClr val="1E2761"/>
            </a:solidFill>
            <a:prstDash val="solid"/>
          </a:ln>
        </p:spPr>
        <p:txBody>
          <a:bodyPr/>
          <a:lstStyle/>
          <a:p>
            <a:endParaRPr lang="en-US"/>
          </a:p>
        </p:txBody>
      </p:sp>
      <p:sp>
        <p:nvSpPr>
          <p:cNvPr id="8" name="Text 6"/>
          <p:cNvSpPr/>
          <p:nvPr/>
        </p:nvSpPr>
        <p:spPr>
          <a:xfrm>
            <a:off x="822960" y="2249424"/>
            <a:ext cx="178308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Mail1Client</a:t>
            </a:r>
            <a:endParaRPr lang="en-US" sz="1200" dirty="0"/>
          </a:p>
        </p:txBody>
      </p:sp>
      <p:sp>
        <p:nvSpPr>
          <p:cNvPr id="9" name="Text 7"/>
          <p:cNvSpPr/>
          <p:nvPr/>
        </p:nvSpPr>
        <p:spPr>
          <a:xfrm>
            <a:off x="822960" y="2560320"/>
            <a:ext cx="1783080" cy="23774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Thunderbird</a:t>
            </a:r>
            <a:endParaRPr lang="en-US" sz="950" dirty="0"/>
          </a:p>
        </p:txBody>
      </p:sp>
      <p:sp>
        <p:nvSpPr>
          <p:cNvPr id="10" name="Text 8"/>
          <p:cNvSpPr/>
          <p:nvPr/>
        </p:nvSpPr>
        <p:spPr>
          <a:xfrm>
            <a:off x="822960" y="2852928"/>
            <a:ext cx="1783080" cy="402336"/>
          </a:xfrm>
          <a:prstGeom prst="rect">
            <a:avLst/>
          </a:prstGeom>
          <a:noFill/>
          <a:ln/>
        </p:spPr>
        <p:txBody>
          <a:bodyPr wrap="square" lIns="0" tIns="0" rIns="0" bIns="0" rtlCol="0" anchor="ctr"/>
          <a:lstStyle/>
          <a:p>
            <a:pPr marL="0" indent="0" algn="ctr">
              <a:lnSpc>
                <a:spcPts val="1300"/>
              </a:lnSpc>
              <a:buNone/>
            </a:pPr>
            <a:r>
              <a:rPr lang="en-US" sz="1050" dirty="0">
                <a:solidFill>
                  <a:srgbClr val="6B7280"/>
                </a:solidFill>
                <a:latin typeface="Calibri" pitchFamily="34" charset="0"/>
                <a:ea typeface="Calibri" pitchFamily="34" charset="-122"/>
                <a:cs typeface="Calibri" pitchFamily="34" charset="-120"/>
              </a:rPr>
              <a:t>user</a:t>
            </a:r>
            <a:endParaRPr lang="en-US" sz="1050" dirty="0"/>
          </a:p>
        </p:txBody>
      </p:sp>
      <p:sp>
        <p:nvSpPr>
          <p:cNvPr id="11" name="Shape 9"/>
          <p:cNvSpPr/>
          <p:nvPr/>
        </p:nvSpPr>
        <p:spPr>
          <a:xfrm>
            <a:off x="2880360" y="2103120"/>
            <a:ext cx="1783080" cy="1280160"/>
          </a:xfrm>
          <a:prstGeom prst="roundRect">
            <a:avLst>
              <a:gd name="adj" fmla="val 5714"/>
            </a:avLst>
          </a:prstGeom>
          <a:solidFill>
            <a:srgbClr val="FFFFFF"/>
          </a:solidFill>
          <a:ln w="15875">
            <a:solidFill>
              <a:srgbClr val="1E2761"/>
            </a:solidFill>
            <a:prstDash val="solid"/>
          </a:ln>
        </p:spPr>
        <p:txBody>
          <a:bodyPr/>
          <a:lstStyle/>
          <a:p>
            <a:endParaRPr lang="en-US"/>
          </a:p>
        </p:txBody>
      </p:sp>
      <p:sp>
        <p:nvSpPr>
          <p:cNvPr id="12" name="Text 10"/>
          <p:cNvSpPr/>
          <p:nvPr/>
        </p:nvSpPr>
        <p:spPr>
          <a:xfrm>
            <a:off x="2880360" y="2249424"/>
            <a:ext cx="178308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Mail1</a:t>
            </a:r>
            <a:endParaRPr lang="en-US" sz="1200" dirty="0"/>
          </a:p>
        </p:txBody>
      </p:sp>
      <p:sp>
        <p:nvSpPr>
          <p:cNvPr id="13" name="Text 11"/>
          <p:cNvSpPr/>
          <p:nvPr/>
        </p:nvSpPr>
        <p:spPr>
          <a:xfrm>
            <a:off x="2880360" y="2560320"/>
            <a:ext cx="1783080" cy="23774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192.168.100.10</a:t>
            </a:r>
            <a:endParaRPr lang="en-US" sz="950" dirty="0"/>
          </a:p>
        </p:txBody>
      </p:sp>
      <p:sp>
        <p:nvSpPr>
          <p:cNvPr id="14" name="Text 12"/>
          <p:cNvSpPr/>
          <p:nvPr/>
        </p:nvSpPr>
        <p:spPr>
          <a:xfrm>
            <a:off x="2880360" y="2852928"/>
            <a:ext cx="1783080" cy="402336"/>
          </a:xfrm>
          <a:prstGeom prst="rect">
            <a:avLst/>
          </a:prstGeom>
          <a:noFill/>
          <a:ln/>
        </p:spPr>
        <p:txBody>
          <a:bodyPr wrap="square" lIns="0" tIns="0" rIns="0" bIns="0" rtlCol="0" anchor="ctr"/>
          <a:lstStyle/>
          <a:p>
            <a:pPr marL="0" indent="0" algn="ctr">
              <a:lnSpc>
                <a:spcPts val="1300"/>
              </a:lnSpc>
              <a:buNone/>
            </a:pPr>
            <a:r>
              <a:rPr lang="en-US" sz="1050" dirty="0">
                <a:solidFill>
                  <a:srgbClr val="6B7280"/>
                </a:solidFill>
                <a:latin typeface="Calibri" pitchFamily="34" charset="0"/>
                <a:ea typeface="Calibri" pitchFamily="34" charset="-122"/>
                <a:cs typeface="Calibri" pitchFamily="34" charset="-120"/>
              </a:rPr>
              <a:t>Postfix, Dovecot</a:t>
            </a:r>
            <a:endParaRPr lang="en-US" sz="1050" dirty="0"/>
          </a:p>
        </p:txBody>
      </p:sp>
      <p:sp>
        <p:nvSpPr>
          <p:cNvPr id="15" name="Shape 13"/>
          <p:cNvSpPr/>
          <p:nvPr/>
        </p:nvSpPr>
        <p:spPr>
          <a:xfrm>
            <a:off x="7498080" y="2103120"/>
            <a:ext cx="1783080" cy="1280160"/>
          </a:xfrm>
          <a:prstGeom prst="roundRect">
            <a:avLst>
              <a:gd name="adj" fmla="val 5714"/>
            </a:avLst>
          </a:prstGeom>
          <a:solidFill>
            <a:srgbClr val="FFFFFF"/>
          </a:solidFill>
          <a:ln w="31750">
            <a:solidFill>
              <a:srgbClr val="E8833A"/>
            </a:solidFill>
            <a:prstDash val="solid"/>
          </a:ln>
        </p:spPr>
        <p:txBody>
          <a:bodyPr/>
          <a:lstStyle/>
          <a:p>
            <a:endParaRPr lang="en-US"/>
          </a:p>
        </p:txBody>
      </p:sp>
      <p:sp>
        <p:nvSpPr>
          <p:cNvPr id="16" name="Text 14"/>
          <p:cNvSpPr/>
          <p:nvPr/>
        </p:nvSpPr>
        <p:spPr>
          <a:xfrm>
            <a:off x="7498080" y="2249424"/>
            <a:ext cx="178308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Mail2</a:t>
            </a:r>
            <a:endParaRPr lang="en-US" sz="1200" dirty="0"/>
          </a:p>
        </p:txBody>
      </p:sp>
      <p:sp>
        <p:nvSpPr>
          <p:cNvPr id="17" name="Text 15"/>
          <p:cNvSpPr/>
          <p:nvPr/>
        </p:nvSpPr>
        <p:spPr>
          <a:xfrm>
            <a:off x="7498080" y="2560320"/>
            <a:ext cx="1783080" cy="23774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192.168.200.11</a:t>
            </a:r>
            <a:endParaRPr lang="en-US" sz="950" dirty="0"/>
          </a:p>
        </p:txBody>
      </p:sp>
      <p:sp>
        <p:nvSpPr>
          <p:cNvPr id="18" name="Text 16"/>
          <p:cNvSpPr/>
          <p:nvPr/>
        </p:nvSpPr>
        <p:spPr>
          <a:xfrm>
            <a:off x="7498080" y="2852928"/>
            <a:ext cx="1783080" cy="402336"/>
          </a:xfrm>
          <a:prstGeom prst="rect">
            <a:avLst/>
          </a:prstGeom>
          <a:noFill/>
          <a:ln/>
        </p:spPr>
        <p:txBody>
          <a:bodyPr wrap="square" lIns="0" tIns="0" rIns="0" bIns="0" rtlCol="0" anchor="ctr"/>
          <a:lstStyle/>
          <a:p>
            <a:pPr marL="0" indent="0" algn="ctr">
              <a:lnSpc>
                <a:spcPts val="1300"/>
              </a:lnSpc>
              <a:buNone/>
            </a:pPr>
            <a:r>
              <a:rPr lang="en-US" sz="1050" b="1" dirty="0">
                <a:solidFill>
                  <a:srgbClr val="E8833A"/>
                </a:solidFill>
                <a:latin typeface="Calibri" pitchFamily="34" charset="0"/>
                <a:ea typeface="Calibri" pitchFamily="34" charset="-122"/>
                <a:cs typeface="Calibri" pitchFamily="34" charset="-120"/>
              </a:rPr>
              <a:t>anti-spam scan</a:t>
            </a:r>
            <a:endParaRPr lang="en-US" sz="1050" dirty="0"/>
          </a:p>
        </p:txBody>
      </p:sp>
      <p:sp>
        <p:nvSpPr>
          <p:cNvPr id="19" name="Shape 17"/>
          <p:cNvSpPr/>
          <p:nvPr/>
        </p:nvSpPr>
        <p:spPr>
          <a:xfrm>
            <a:off x="9555480" y="2103120"/>
            <a:ext cx="1783080" cy="1280160"/>
          </a:xfrm>
          <a:prstGeom prst="roundRect">
            <a:avLst>
              <a:gd name="adj" fmla="val 5714"/>
            </a:avLst>
          </a:prstGeom>
          <a:solidFill>
            <a:srgbClr val="FFFFFF"/>
          </a:solidFill>
          <a:ln w="15875">
            <a:solidFill>
              <a:srgbClr val="1E2761"/>
            </a:solidFill>
            <a:prstDash val="solid"/>
          </a:ln>
        </p:spPr>
        <p:txBody>
          <a:bodyPr/>
          <a:lstStyle/>
          <a:p>
            <a:endParaRPr lang="en-US"/>
          </a:p>
        </p:txBody>
      </p:sp>
      <p:sp>
        <p:nvSpPr>
          <p:cNvPr id="20" name="Text 18"/>
          <p:cNvSpPr/>
          <p:nvPr/>
        </p:nvSpPr>
        <p:spPr>
          <a:xfrm>
            <a:off x="9555480" y="2249424"/>
            <a:ext cx="178308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Mail2Client</a:t>
            </a:r>
            <a:endParaRPr lang="en-US" sz="1200" dirty="0"/>
          </a:p>
        </p:txBody>
      </p:sp>
      <p:sp>
        <p:nvSpPr>
          <p:cNvPr id="21" name="Text 19"/>
          <p:cNvSpPr/>
          <p:nvPr/>
        </p:nvSpPr>
        <p:spPr>
          <a:xfrm>
            <a:off x="9555480" y="2560320"/>
            <a:ext cx="1783080" cy="23774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Thunderbird</a:t>
            </a:r>
            <a:endParaRPr lang="en-US" sz="950" dirty="0"/>
          </a:p>
        </p:txBody>
      </p:sp>
      <p:sp>
        <p:nvSpPr>
          <p:cNvPr id="22" name="Text 20"/>
          <p:cNvSpPr/>
          <p:nvPr/>
        </p:nvSpPr>
        <p:spPr>
          <a:xfrm>
            <a:off x="9555480" y="2852928"/>
            <a:ext cx="1783080" cy="402336"/>
          </a:xfrm>
          <a:prstGeom prst="rect">
            <a:avLst/>
          </a:prstGeom>
          <a:noFill/>
          <a:ln/>
        </p:spPr>
        <p:txBody>
          <a:bodyPr wrap="square" lIns="0" tIns="0" rIns="0" bIns="0" rtlCol="0" anchor="ctr"/>
          <a:lstStyle/>
          <a:p>
            <a:pPr marL="0" indent="0" algn="ctr">
              <a:lnSpc>
                <a:spcPts val="1300"/>
              </a:lnSpc>
              <a:buNone/>
            </a:pPr>
            <a:r>
              <a:rPr lang="en-US" sz="1050" dirty="0">
                <a:solidFill>
                  <a:srgbClr val="6B7280"/>
                </a:solidFill>
                <a:latin typeface="Calibri" pitchFamily="34" charset="0"/>
                <a:ea typeface="Calibri" pitchFamily="34" charset="-122"/>
                <a:cs typeface="Calibri" pitchFamily="34" charset="-120"/>
              </a:rPr>
              <a:t>user</a:t>
            </a:r>
            <a:endParaRPr lang="en-US" sz="1050" dirty="0"/>
          </a:p>
        </p:txBody>
      </p:sp>
      <p:sp>
        <p:nvSpPr>
          <p:cNvPr id="23" name="Shape 21"/>
          <p:cNvSpPr/>
          <p:nvPr/>
        </p:nvSpPr>
        <p:spPr>
          <a:xfrm>
            <a:off x="5212080" y="2103120"/>
            <a:ext cx="1737360" cy="1280160"/>
          </a:xfrm>
          <a:prstGeom prst="roundRect">
            <a:avLst>
              <a:gd name="adj" fmla="val 5714"/>
            </a:avLst>
          </a:prstGeom>
          <a:solidFill>
            <a:srgbClr val="FFFFFF"/>
          </a:solidFill>
          <a:ln w="19050">
            <a:solidFill>
              <a:srgbClr val="1E2761"/>
            </a:solidFill>
            <a:prstDash val="solid"/>
          </a:ln>
        </p:spPr>
        <p:txBody>
          <a:bodyPr/>
          <a:lstStyle/>
          <a:p>
            <a:endParaRPr lang="en-US"/>
          </a:p>
        </p:txBody>
      </p:sp>
      <p:sp>
        <p:nvSpPr>
          <p:cNvPr id="24" name="Text 22"/>
          <p:cNvSpPr/>
          <p:nvPr/>
        </p:nvSpPr>
        <p:spPr>
          <a:xfrm>
            <a:off x="5212080" y="2249424"/>
            <a:ext cx="173736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Space</a:t>
            </a:r>
            <a:endParaRPr lang="en-US" sz="1200" dirty="0"/>
          </a:p>
        </p:txBody>
      </p:sp>
      <p:sp>
        <p:nvSpPr>
          <p:cNvPr id="25" name="Text 23"/>
          <p:cNvSpPr/>
          <p:nvPr/>
        </p:nvSpPr>
        <p:spPr>
          <a:xfrm>
            <a:off x="5212080" y="2560320"/>
            <a:ext cx="1737360" cy="237744"/>
          </a:xfrm>
          <a:prstGeom prst="rect">
            <a:avLst/>
          </a:prstGeom>
          <a:noFill/>
          <a:ln/>
        </p:spPr>
        <p:txBody>
          <a:bodyPr wrap="square" lIns="0" tIns="0" rIns="0" bIns="0"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192.168.100.1 / .200.1</a:t>
            </a:r>
            <a:endParaRPr lang="en-US" sz="850" dirty="0"/>
          </a:p>
        </p:txBody>
      </p:sp>
      <p:sp>
        <p:nvSpPr>
          <p:cNvPr id="26" name="Text 24"/>
          <p:cNvSpPr/>
          <p:nvPr/>
        </p:nvSpPr>
        <p:spPr>
          <a:xfrm>
            <a:off x="5212080" y="2834640"/>
            <a:ext cx="1737360" cy="438912"/>
          </a:xfrm>
          <a:prstGeom prst="rect">
            <a:avLst/>
          </a:prstGeom>
          <a:noFill/>
          <a:ln/>
        </p:spPr>
        <p:txBody>
          <a:bodyPr wrap="square" lIns="0" tIns="0" rIns="0" bIns="0" rtlCol="0" anchor="ctr"/>
          <a:lstStyle/>
          <a:p>
            <a:pPr marL="0" indent="0" algn="ctr">
              <a:lnSpc>
                <a:spcPts val="1300"/>
              </a:lnSpc>
              <a:buNone/>
            </a:pPr>
            <a:r>
              <a:rPr lang="en-US" sz="1050" dirty="0">
                <a:solidFill>
                  <a:srgbClr val="6B7280"/>
                </a:solidFill>
                <a:latin typeface="Calibri" pitchFamily="34" charset="0"/>
                <a:ea typeface="Calibri" pitchFamily="34" charset="-122"/>
                <a:cs typeface="Calibri" pitchFamily="34" charset="-120"/>
              </a:rPr>
              <a:t>relay</a:t>
            </a:r>
            <a:endParaRPr lang="en-US" sz="1050" dirty="0"/>
          </a:p>
          <a:p>
            <a:pPr marL="0" indent="0" algn="ctr">
              <a:lnSpc>
                <a:spcPts val="1300"/>
              </a:lnSpc>
              <a:buNone/>
            </a:pPr>
            <a:r>
              <a:rPr lang="en-US" sz="1050" dirty="0">
                <a:solidFill>
                  <a:srgbClr val="6B7280"/>
                </a:solidFill>
                <a:latin typeface="Calibri" pitchFamily="34" charset="0"/>
                <a:ea typeface="Calibri" pitchFamily="34" charset="-122"/>
                <a:cs typeface="Calibri" pitchFamily="34" charset="-120"/>
              </a:rPr>
              <a:t>applies the delay</a:t>
            </a:r>
            <a:endParaRPr lang="en-US" sz="1050" dirty="0"/>
          </a:p>
        </p:txBody>
      </p:sp>
      <p:sp>
        <p:nvSpPr>
          <p:cNvPr id="27" name="Shape 25"/>
          <p:cNvSpPr/>
          <p:nvPr/>
        </p:nvSpPr>
        <p:spPr>
          <a:xfrm>
            <a:off x="2624328" y="2743200"/>
            <a:ext cx="237744" cy="0"/>
          </a:xfrm>
          <a:prstGeom prst="line">
            <a:avLst/>
          </a:prstGeom>
          <a:noFill/>
          <a:ln w="15875">
            <a:solidFill>
              <a:srgbClr val="1E2761"/>
            </a:solidFill>
            <a:prstDash val="solid"/>
            <a:headEnd type="triangle"/>
            <a:tailEnd type="triangle"/>
          </a:ln>
        </p:spPr>
        <p:txBody>
          <a:bodyPr/>
          <a:lstStyle/>
          <a:p>
            <a:endParaRPr lang="en-US"/>
          </a:p>
        </p:txBody>
      </p:sp>
      <p:sp>
        <p:nvSpPr>
          <p:cNvPr id="28" name="Text 26"/>
          <p:cNvSpPr/>
          <p:nvPr/>
        </p:nvSpPr>
        <p:spPr>
          <a:xfrm>
            <a:off x="2011680" y="3419856"/>
            <a:ext cx="1463040" cy="201168"/>
          </a:xfrm>
          <a:prstGeom prst="rect">
            <a:avLst/>
          </a:prstGeom>
          <a:noFill/>
          <a:ln/>
        </p:spPr>
        <p:txBody>
          <a:bodyPr wrap="square" lIns="0" tIns="0" rIns="0" bIns="0"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IMAP / SMTP</a:t>
            </a:r>
            <a:endParaRPr lang="en-US" sz="850" dirty="0"/>
          </a:p>
        </p:txBody>
      </p:sp>
      <p:sp>
        <p:nvSpPr>
          <p:cNvPr id="29" name="Shape 27"/>
          <p:cNvSpPr/>
          <p:nvPr/>
        </p:nvSpPr>
        <p:spPr>
          <a:xfrm>
            <a:off x="9299448" y="2743200"/>
            <a:ext cx="237744" cy="0"/>
          </a:xfrm>
          <a:prstGeom prst="line">
            <a:avLst/>
          </a:prstGeom>
          <a:noFill/>
          <a:ln w="15875">
            <a:solidFill>
              <a:srgbClr val="1E2761"/>
            </a:solidFill>
            <a:prstDash val="solid"/>
            <a:headEnd type="triangle"/>
            <a:tailEnd type="triangle"/>
          </a:ln>
        </p:spPr>
        <p:txBody>
          <a:bodyPr/>
          <a:lstStyle/>
          <a:p>
            <a:endParaRPr lang="en-US"/>
          </a:p>
        </p:txBody>
      </p:sp>
      <p:sp>
        <p:nvSpPr>
          <p:cNvPr id="30" name="Text 28"/>
          <p:cNvSpPr/>
          <p:nvPr/>
        </p:nvSpPr>
        <p:spPr>
          <a:xfrm>
            <a:off x="8686800" y="3419856"/>
            <a:ext cx="1463040" cy="201168"/>
          </a:xfrm>
          <a:prstGeom prst="rect">
            <a:avLst/>
          </a:prstGeom>
          <a:noFill/>
          <a:ln/>
        </p:spPr>
        <p:txBody>
          <a:bodyPr wrap="square" lIns="0" tIns="0" rIns="0" bIns="0"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IMAP / SMTP</a:t>
            </a:r>
            <a:endParaRPr lang="en-US" sz="850" dirty="0"/>
          </a:p>
        </p:txBody>
      </p:sp>
      <p:sp>
        <p:nvSpPr>
          <p:cNvPr id="31" name="Shape 29"/>
          <p:cNvSpPr/>
          <p:nvPr/>
        </p:nvSpPr>
        <p:spPr>
          <a:xfrm>
            <a:off x="4681728" y="2743200"/>
            <a:ext cx="512064" cy="0"/>
          </a:xfrm>
          <a:prstGeom prst="line">
            <a:avLst/>
          </a:prstGeom>
          <a:noFill/>
          <a:ln w="25400">
            <a:solidFill>
              <a:srgbClr val="1E2761"/>
            </a:solidFill>
            <a:prstDash val="solid"/>
            <a:headEnd type="triangle"/>
            <a:tailEnd type="triangle"/>
          </a:ln>
        </p:spPr>
        <p:txBody>
          <a:bodyPr/>
          <a:lstStyle/>
          <a:p>
            <a:endParaRPr lang="en-US"/>
          </a:p>
        </p:txBody>
      </p:sp>
      <p:sp>
        <p:nvSpPr>
          <p:cNvPr id="32" name="Text 30"/>
          <p:cNvSpPr/>
          <p:nvPr/>
        </p:nvSpPr>
        <p:spPr>
          <a:xfrm>
            <a:off x="4206240" y="3685032"/>
            <a:ext cx="146304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no delay</a:t>
            </a:r>
            <a:endParaRPr lang="en-US" sz="1100" dirty="0"/>
          </a:p>
        </p:txBody>
      </p:sp>
      <p:sp>
        <p:nvSpPr>
          <p:cNvPr id="33" name="Shape 31"/>
          <p:cNvSpPr/>
          <p:nvPr/>
        </p:nvSpPr>
        <p:spPr>
          <a:xfrm>
            <a:off x="6967728" y="2743200"/>
            <a:ext cx="512064" cy="0"/>
          </a:xfrm>
          <a:prstGeom prst="line">
            <a:avLst/>
          </a:prstGeom>
          <a:noFill/>
          <a:ln w="31750">
            <a:solidFill>
              <a:srgbClr val="E8833A"/>
            </a:solidFill>
            <a:prstDash val="solid"/>
            <a:headEnd type="triangle"/>
            <a:tailEnd type="triangle"/>
          </a:ln>
        </p:spPr>
        <p:txBody>
          <a:bodyPr/>
          <a:lstStyle/>
          <a:p>
            <a:endParaRPr lang="en-US"/>
          </a:p>
        </p:txBody>
      </p:sp>
      <p:sp>
        <p:nvSpPr>
          <p:cNvPr id="34" name="Text 32"/>
          <p:cNvSpPr/>
          <p:nvPr/>
        </p:nvSpPr>
        <p:spPr>
          <a:xfrm>
            <a:off x="6492240" y="3685032"/>
            <a:ext cx="1463040" cy="256032"/>
          </a:xfrm>
          <a:prstGeom prst="rect">
            <a:avLst/>
          </a:prstGeom>
          <a:noFill/>
          <a:ln/>
        </p:spPr>
        <p:txBody>
          <a:bodyPr wrap="square" lIns="0" tIns="0" rIns="0" bIns="0" rtlCol="0" anchor="ctr"/>
          <a:lstStyle/>
          <a:p>
            <a:pPr marL="0" indent="0" algn="ctr">
              <a:buNone/>
            </a:pPr>
            <a:r>
              <a:rPr lang="en-US" sz="1100" b="1" dirty="0">
                <a:solidFill>
                  <a:srgbClr val="E8833A"/>
                </a:solidFill>
                <a:latin typeface="Calibri" pitchFamily="34" charset="0"/>
                <a:ea typeface="Calibri" pitchFamily="34" charset="-122"/>
                <a:cs typeface="Calibri" pitchFamily="34" charset="-120"/>
              </a:rPr>
              <a:t>1.3 s each way</a:t>
            </a:r>
            <a:endParaRPr lang="en-US" sz="1100" dirty="0"/>
          </a:p>
        </p:txBody>
      </p:sp>
      <p:sp>
        <p:nvSpPr>
          <p:cNvPr id="35" name="Shape 33"/>
          <p:cNvSpPr/>
          <p:nvPr/>
        </p:nvSpPr>
        <p:spPr>
          <a:xfrm>
            <a:off x="2880360" y="4343400"/>
            <a:ext cx="1783080" cy="685800"/>
          </a:xfrm>
          <a:prstGeom prst="roundRect">
            <a:avLst>
              <a:gd name="adj" fmla="val 10667"/>
            </a:avLst>
          </a:prstGeom>
          <a:solidFill>
            <a:srgbClr val="F5F7FA"/>
          </a:solidFill>
          <a:ln w="12700">
            <a:solidFill>
              <a:srgbClr val="D8DEE9"/>
            </a:solidFill>
            <a:prstDash val="solid"/>
          </a:ln>
        </p:spPr>
        <p:txBody>
          <a:bodyPr/>
          <a:lstStyle/>
          <a:p>
            <a:endParaRPr lang="en-US"/>
          </a:p>
        </p:txBody>
      </p:sp>
      <p:sp>
        <p:nvSpPr>
          <p:cNvPr id="36" name="Text 34"/>
          <p:cNvSpPr/>
          <p:nvPr/>
        </p:nvSpPr>
        <p:spPr>
          <a:xfrm>
            <a:off x="2880360" y="4462272"/>
            <a:ext cx="1783080" cy="475488"/>
          </a:xfrm>
          <a:prstGeom prst="rect">
            <a:avLst/>
          </a:prstGeom>
          <a:noFill/>
          <a:ln/>
        </p:spPr>
        <p:txBody>
          <a:bodyPr wrap="square" lIns="0" tIns="0" rIns="0" bIns="0" rtlCol="0" anchor="ctr"/>
          <a:lstStyle/>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Blocklists</a:t>
            </a:r>
            <a:endParaRPr lang="en-US" sz="1100" dirty="0"/>
          </a:p>
          <a:p>
            <a:pPr marL="0" indent="0" algn="ctr">
              <a:lnSpc>
                <a:spcPts val="1300"/>
              </a:lnSpc>
              <a:buNone/>
            </a:pPr>
            <a:r>
              <a:rPr lang="en-US" sz="1100" dirty="0">
                <a:solidFill>
                  <a:srgbClr val="1E2761"/>
                </a:solidFill>
                <a:latin typeface="Calibri" pitchFamily="34" charset="0"/>
                <a:ea typeface="Calibri" pitchFamily="34" charset="-122"/>
                <a:cs typeface="Calibri" pitchFamily="34" charset="-120"/>
              </a:rPr>
              <a:t>(on Earth)</a:t>
            </a:r>
            <a:endParaRPr lang="en-US" sz="1100" dirty="0"/>
          </a:p>
        </p:txBody>
      </p:sp>
      <p:sp>
        <p:nvSpPr>
          <p:cNvPr id="37" name="Shape 35"/>
          <p:cNvSpPr/>
          <p:nvPr/>
        </p:nvSpPr>
        <p:spPr>
          <a:xfrm>
            <a:off x="8389620" y="3611880"/>
            <a:ext cx="0" cy="1024128"/>
          </a:xfrm>
          <a:prstGeom prst="line">
            <a:avLst/>
          </a:prstGeom>
          <a:noFill/>
          <a:ln w="25400">
            <a:solidFill>
              <a:srgbClr val="E8833A"/>
            </a:solidFill>
            <a:prstDash val="dash"/>
          </a:ln>
        </p:spPr>
        <p:txBody>
          <a:bodyPr/>
          <a:lstStyle/>
          <a:p>
            <a:endParaRPr lang="en-US"/>
          </a:p>
        </p:txBody>
      </p:sp>
      <p:sp>
        <p:nvSpPr>
          <p:cNvPr id="38" name="Shape 36"/>
          <p:cNvSpPr/>
          <p:nvPr/>
        </p:nvSpPr>
        <p:spPr>
          <a:xfrm>
            <a:off x="4663440" y="4636008"/>
            <a:ext cx="3726180" cy="0"/>
          </a:xfrm>
          <a:prstGeom prst="line">
            <a:avLst/>
          </a:prstGeom>
          <a:noFill/>
          <a:ln w="25400">
            <a:solidFill>
              <a:srgbClr val="E8833A"/>
            </a:solidFill>
            <a:prstDash val="dash"/>
            <a:headEnd type="triangle"/>
            <a:tailEnd type="triangle"/>
          </a:ln>
        </p:spPr>
        <p:txBody>
          <a:bodyPr/>
          <a:lstStyle/>
          <a:p>
            <a:endParaRPr lang="en-US"/>
          </a:p>
        </p:txBody>
      </p:sp>
      <p:sp>
        <p:nvSpPr>
          <p:cNvPr id="39" name="Text 37"/>
          <p:cNvSpPr/>
          <p:nvPr/>
        </p:nvSpPr>
        <p:spPr>
          <a:xfrm>
            <a:off x="4800600" y="4727448"/>
            <a:ext cx="3451860" cy="274320"/>
          </a:xfrm>
          <a:prstGeom prst="rect">
            <a:avLst/>
          </a:prstGeom>
          <a:noFill/>
          <a:ln/>
        </p:spPr>
        <p:txBody>
          <a:bodyPr wrap="square" lIns="0" tIns="0" rIns="0" bIns="0" rtlCol="0" anchor="ctr"/>
          <a:lstStyle/>
          <a:p>
            <a:pPr marL="0" indent="0" algn="ctr">
              <a:buNone/>
            </a:pPr>
            <a:r>
              <a:rPr lang="en-US" sz="1100" b="1" dirty="0">
                <a:solidFill>
                  <a:srgbClr val="E8833A"/>
                </a:solidFill>
                <a:latin typeface="Calibri" pitchFamily="34" charset="0"/>
                <a:ea typeface="Calibri" pitchFamily="34" charset="-122"/>
                <a:cs typeface="Calibri" pitchFamily="34" charset="-120"/>
              </a:rPr>
              <a:t>each lookup from the scanner: 2.6 s round trip</a:t>
            </a:r>
            <a:endParaRPr lang="en-US" sz="1100" dirty="0"/>
          </a:p>
        </p:txBody>
      </p:sp>
      <p:sp>
        <p:nvSpPr>
          <p:cNvPr id="40" name="Text 38"/>
          <p:cNvSpPr/>
          <p:nvPr/>
        </p:nvSpPr>
        <p:spPr>
          <a:xfrm>
            <a:off x="640080" y="5577840"/>
            <a:ext cx="10972800" cy="32004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The blocklists are on Earth. Queries from Earth are not delayed. Queries from the Moon cross the link twice.</a:t>
            </a:r>
          </a:p>
          <a:p>
            <a:pPr marL="0" indent="0">
              <a:buNone/>
            </a:pPr>
            <a:endParaRPr lang="en-US" sz="1400" dirty="0">
              <a:solidFill>
                <a:srgbClr val="1E2761"/>
              </a:solidFill>
              <a:latin typeface="Calibri" pitchFamily="34" charset="0"/>
              <a:cs typeface="Calibri" pitchFamily="34" charset="-120"/>
            </a:endParaRPr>
          </a:p>
          <a:p>
            <a:r>
              <a:rPr lang="en-US" sz="1400" dirty="0"/>
              <a:t>Every component is production mail software (Postfix, Dovecot, </a:t>
            </a:r>
            <a:r>
              <a:rPr lang="en-US" sz="1400" dirty="0" err="1"/>
              <a:t>SpamAssassin</a:t>
            </a:r>
            <a:r>
              <a:rPr lang="en-US" sz="1400" dirty="0"/>
              <a:t>, </a:t>
            </a:r>
            <a:r>
              <a:rPr lang="en-US" sz="1400" dirty="0" err="1"/>
              <a:t>rspamd</a:t>
            </a:r>
            <a:r>
              <a:rPr lang="en-US" sz="1400" dirty="0"/>
              <a:t>), not simulated. Only the link delay is introduced.</a:t>
            </a:r>
          </a:p>
        </p:txBody>
      </p:sp>
      <p:sp>
        <p:nvSpPr>
          <p:cNvPr id="900" name="Slide Number 5"/>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739ABC85-F1E4-4AD0-880D-ADB7F6CCB359}" type="slidenum">
              <a:rPr lang="en-US" sz="1100">
                <a:solidFill>
                  <a:srgbClr val="6B7280"/>
                </a:solidFill>
                <a:latin typeface="Calibri"/>
              </a:rPr>
              <a:t>5</a:t>
            </a:fld>
            <a:r>
              <a:rPr lang="en-US" sz="1100">
                <a:solidFill>
                  <a:srgbClr val="6B7280"/>
                </a:solidFill>
                <a:latin typeface="Calibri"/>
              </a:rPr>
              <a:t>/9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Software</a:t>
            </a:r>
            <a:endParaRPr lang="en-US" sz="3200" dirty="0"/>
          </a:p>
        </p:txBody>
      </p:sp>
      <p:sp>
        <p:nvSpPr>
          <p:cNvPr id="3" name="Text 1"/>
          <p:cNvSpPr/>
          <p:nvPr/>
        </p:nvSpPr>
        <p:spPr>
          <a:xfrm>
            <a:off x="640080" y="141732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Mail</a:t>
            </a:r>
            <a:endParaRPr lang="en-US" sz="1500" dirty="0"/>
          </a:p>
        </p:txBody>
      </p:sp>
      <p:sp>
        <p:nvSpPr>
          <p:cNvPr id="4" name="Shape 2"/>
          <p:cNvSpPr/>
          <p:nvPr/>
        </p:nvSpPr>
        <p:spPr>
          <a:xfrm>
            <a:off x="640080" y="1783080"/>
            <a:ext cx="3383280" cy="0"/>
          </a:xfrm>
          <a:prstGeom prst="line">
            <a:avLst/>
          </a:prstGeom>
          <a:noFill/>
          <a:ln w="12700">
            <a:solidFill>
              <a:srgbClr val="D8DEE9"/>
            </a:solidFill>
            <a:prstDash val="solid"/>
          </a:ln>
        </p:spPr>
        <p:txBody>
          <a:bodyPr/>
          <a:lstStyle/>
          <a:p>
            <a:endParaRPr lang="en-US"/>
          </a:p>
        </p:txBody>
      </p:sp>
      <p:sp>
        <p:nvSpPr>
          <p:cNvPr id="5" name="Shape 3"/>
          <p:cNvSpPr/>
          <p:nvPr/>
        </p:nvSpPr>
        <p:spPr>
          <a:xfrm>
            <a:off x="640080" y="1965960"/>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6" name="Text 4"/>
          <p:cNvSpPr/>
          <p:nvPr/>
        </p:nvSpPr>
        <p:spPr>
          <a:xfrm>
            <a:off x="822960" y="2066544"/>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Postfix</a:t>
            </a:r>
            <a:endParaRPr lang="en-US" sz="1300" dirty="0"/>
          </a:p>
        </p:txBody>
      </p:sp>
      <p:sp>
        <p:nvSpPr>
          <p:cNvPr id="7" name="Text 5"/>
          <p:cNvSpPr/>
          <p:nvPr/>
        </p:nvSpPr>
        <p:spPr>
          <a:xfrm>
            <a:off x="822960" y="2350008"/>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mail transfer agent</a:t>
            </a:r>
            <a:endParaRPr lang="en-US" sz="1050" dirty="0"/>
          </a:p>
        </p:txBody>
      </p:sp>
      <p:sp>
        <p:nvSpPr>
          <p:cNvPr id="8" name="Shape 6"/>
          <p:cNvSpPr/>
          <p:nvPr/>
        </p:nvSpPr>
        <p:spPr>
          <a:xfrm>
            <a:off x="640080" y="2862072"/>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9" name="Text 7"/>
          <p:cNvSpPr/>
          <p:nvPr/>
        </p:nvSpPr>
        <p:spPr>
          <a:xfrm>
            <a:off x="822960" y="2962656"/>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Dovecot</a:t>
            </a:r>
            <a:endParaRPr lang="en-US" sz="1300" dirty="0"/>
          </a:p>
        </p:txBody>
      </p:sp>
      <p:sp>
        <p:nvSpPr>
          <p:cNvPr id="10" name="Text 8"/>
          <p:cNvSpPr/>
          <p:nvPr/>
        </p:nvSpPr>
        <p:spPr>
          <a:xfrm>
            <a:off x="822960" y="3246120"/>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IMAP / POP3 server</a:t>
            </a:r>
            <a:endParaRPr lang="en-US" sz="1050" dirty="0"/>
          </a:p>
        </p:txBody>
      </p:sp>
      <p:sp>
        <p:nvSpPr>
          <p:cNvPr id="11" name="Shape 9"/>
          <p:cNvSpPr/>
          <p:nvPr/>
        </p:nvSpPr>
        <p:spPr>
          <a:xfrm>
            <a:off x="640080" y="3758184"/>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12" name="Text 10"/>
          <p:cNvSpPr/>
          <p:nvPr/>
        </p:nvSpPr>
        <p:spPr>
          <a:xfrm>
            <a:off x="822960" y="3858768"/>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Thunderbird</a:t>
            </a:r>
            <a:endParaRPr lang="en-US" sz="1300" dirty="0"/>
          </a:p>
        </p:txBody>
      </p:sp>
      <p:sp>
        <p:nvSpPr>
          <p:cNvPr id="13" name="Text 11"/>
          <p:cNvSpPr/>
          <p:nvPr/>
        </p:nvSpPr>
        <p:spPr>
          <a:xfrm>
            <a:off x="822960" y="4142232"/>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mail client</a:t>
            </a:r>
            <a:endParaRPr lang="en-US" sz="1050" dirty="0"/>
          </a:p>
        </p:txBody>
      </p:sp>
      <p:sp>
        <p:nvSpPr>
          <p:cNvPr id="14" name="Text 12"/>
          <p:cNvSpPr/>
          <p:nvPr/>
        </p:nvSpPr>
        <p:spPr>
          <a:xfrm>
            <a:off x="4389120" y="141732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DTN</a:t>
            </a:r>
            <a:endParaRPr lang="en-US" sz="1500" dirty="0"/>
          </a:p>
        </p:txBody>
      </p:sp>
      <p:sp>
        <p:nvSpPr>
          <p:cNvPr id="15" name="Shape 13"/>
          <p:cNvSpPr/>
          <p:nvPr/>
        </p:nvSpPr>
        <p:spPr>
          <a:xfrm>
            <a:off x="4389120" y="1783080"/>
            <a:ext cx="3383280" cy="0"/>
          </a:xfrm>
          <a:prstGeom prst="line">
            <a:avLst/>
          </a:prstGeom>
          <a:noFill/>
          <a:ln w="12700">
            <a:solidFill>
              <a:srgbClr val="D8DEE9"/>
            </a:solidFill>
            <a:prstDash val="solid"/>
          </a:ln>
        </p:spPr>
        <p:txBody>
          <a:bodyPr/>
          <a:lstStyle/>
          <a:p>
            <a:endParaRPr lang="en-US"/>
          </a:p>
        </p:txBody>
      </p:sp>
      <p:sp>
        <p:nvSpPr>
          <p:cNvPr id="16" name="Shape 14"/>
          <p:cNvSpPr/>
          <p:nvPr/>
        </p:nvSpPr>
        <p:spPr>
          <a:xfrm>
            <a:off x="4389120" y="1965960"/>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17" name="Text 15"/>
          <p:cNvSpPr/>
          <p:nvPr/>
        </p:nvSpPr>
        <p:spPr>
          <a:xfrm>
            <a:off x="4572000" y="2066544"/>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ION-DTN 4.1.4</a:t>
            </a:r>
            <a:endParaRPr lang="en-US" sz="1300" dirty="0"/>
          </a:p>
        </p:txBody>
      </p:sp>
      <p:sp>
        <p:nvSpPr>
          <p:cNvPr id="18" name="Text 16"/>
          <p:cNvSpPr/>
          <p:nvPr/>
        </p:nvSpPr>
        <p:spPr>
          <a:xfrm>
            <a:off x="4572000" y="2350008"/>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Bundle Protocol implementation</a:t>
            </a:r>
            <a:endParaRPr lang="en-US" sz="1050" dirty="0"/>
          </a:p>
        </p:txBody>
      </p:sp>
      <p:sp>
        <p:nvSpPr>
          <p:cNvPr id="19" name="Shape 17"/>
          <p:cNvSpPr/>
          <p:nvPr/>
        </p:nvSpPr>
        <p:spPr>
          <a:xfrm>
            <a:off x="4389120" y="2862072"/>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20" name="Text 18"/>
          <p:cNvSpPr/>
          <p:nvPr/>
        </p:nvSpPr>
        <p:spPr>
          <a:xfrm>
            <a:off x="4572000" y="2962656"/>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BPMail</a:t>
            </a:r>
            <a:endParaRPr lang="en-US" sz="1300" dirty="0"/>
          </a:p>
        </p:txBody>
      </p:sp>
      <p:sp>
        <p:nvSpPr>
          <p:cNvPr id="21" name="Text 19"/>
          <p:cNvSpPr/>
          <p:nvPr/>
        </p:nvSpPr>
        <p:spPr>
          <a:xfrm>
            <a:off x="4572000" y="3246120"/>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carries email over the Bundle Protocol</a:t>
            </a:r>
            <a:endParaRPr lang="en-US" sz="1050" dirty="0"/>
          </a:p>
        </p:txBody>
      </p:sp>
      <p:sp>
        <p:nvSpPr>
          <p:cNvPr id="22" name="Text 20"/>
          <p:cNvSpPr/>
          <p:nvPr/>
        </p:nvSpPr>
        <p:spPr>
          <a:xfrm>
            <a:off x="8138160" y="141732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Anti-spam</a:t>
            </a:r>
            <a:endParaRPr lang="en-US" sz="1500" dirty="0"/>
          </a:p>
        </p:txBody>
      </p:sp>
      <p:sp>
        <p:nvSpPr>
          <p:cNvPr id="23" name="Shape 21"/>
          <p:cNvSpPr/>
          <p:nvPr/>
        </p:nvSpPr>
        <p:spPr>
          <a:xfrm>
            <a:off x="8138160" y="1783080"/>
            <a:ext cx="3383280" cy="0"/>
          </a:xfrm>
          <a:prstGeom prst="line">
            <a:avLst/>
          </a:prstGeom>
          <a:noFill/>
          <a:ln w="12700">
            <a:solidFill>
              <a:srgbClr val="D8DEE9"/>
            </a:solidFill>
            <a:prstDash val="solid"/>
          </a:ln>
        </p:spPr>
        <p:txBody>
          <a:bodyPr/>
          <a:lstStyle/>
          <a:p>
            <a:endParaRPr lang="en-US"/>
          </a:p>
        </p:txBody>
      </p:sp>
      <p:sp>
        <p:nvSpPr>
          <p:cNvPr id="24" name="Shape 22"/>
          <p:cNvSpPr/>
          <p:nvPr/>
        </p:nvSpPr>
        <p:spPr>
          <a:xfrm>
            <a:off x="8138160" y="1965960"/>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25" name="Text 23"/>
          <p:cNvSpPr/>
          <p:nvPr/>
        </p:nvSpPr>
        <p:spPr>
          <a:xfrm>
            <a:off x="8321040" y="2066544"/>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SpamAssassin</a:t>
            </a:r>
            <a:endParaRPr lang="en-US" sz="1300" dirty="0"/>
          </a:p>
        </p:txBody>
      </p:sp>
      <p:sp>
        <p:nvSpPr>
          <p:cNvPr id="26" name="Text 24"/>
          <p:cNvSpPr/>
          <p:nvPr/>
        </p:nvSpPr>
        <p:spPr>
          <a:xfrm>
            <a:off x="8321040" y="2350008"/>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DNS blocklists</a:t>
            </a:r>
            <a:endParaRPr lang="en-US" sz="1050" dirty="0"/>
          </a:p>
        </p:txBody>
      </p:sp>
      <p:sp>
        <p:nvSpPr>
          <p:cNvPr id="27" name="Shape 25"/>
          <p:cNvSpPr/>
          <p:nvPr/>
        </p:nvSpPr>
        <p:spPr>
          <a:xfrm>
            <a:off x="8138160" y="2862072"/>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28" name="Text 26"/>
          <p:cNvSpPr/>
          <p:nvPr/>
        </p:nvSpPr>
        <p:spPr>
          <a:xfrm>
            <a:off x="8321040" y="2962656"/>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Rspamd</a:t>
            </a:r>
            <a:endParaRPr lang="en-US" sz="1300" dirty="0"/>
          </a:p>
        </p:txBody>
      </p:sp>
      <p:sp>
        <p:nvSpPr>
          <p:cNvPr id="29" name="Text 27"/>
          <p:cNvSpPr/>
          <p:nvPr/>
        </p:nvSpPr>
        <p:spPr>
          <a:xfrm>
            <a:off x="8321040" y="3246120"/>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DNS, many parallel lookups</a:t>
            </a:r>
            <a:endParaRPr lang="en-US" sz="1050" dirty="0"/>
          </a:p>
        </p:txBody>
      </p:sp>
      <p:sp>
        <p:nvSpPr>
          <p:cNvPr id="30" name="Shape 28"/>
          <p:cNvSpPr/>
          <p:nvPr/>
        </p:nvSpPr>
        <p:spPr>
          <a:xfrm>
            <a:off x="8138160" y="3758184"/>
            <a:ext cx="3383280" cy="731520"/>
          </a:xfrm>
          <a:prstGeom prst="roundRect">
            <a:avLst>
              <a:gd name="adj" fmla="val 10000"/>
            </a:avLst>
          </a:prstGeom>
          <a:solidFill>
            <a:srgbClr val="F5F7FA"/>
          </a:solidFill>
          <a:ln w="12700">
            <a:solidFill>
              <a:srgbClr val="D8DEE9"/>
            </a:solidFill>
            <a:prstDash val="solid"/>
          </a:ln>
        </p:spPr>
        <p:txBody>
          <a:bodyPr/>
          <a:lstStyle/>
          <a:p>
            <a:endParaRPr lang="en-US"/>
          </a:p>
        </p:txBody>
      </p:sp>
      <p:sp>
        <p:nvSpPr>
          <p:cNvPr id="31" name="Text 29"/>
          <p:cNvSpPr/>
          <p:nvPr/>
        </p:nvSpPr>
        <p:spPr>
          <a:xfrm>
            <a:off x="8321040" y="3858768"/>
            <a:ext cx="30175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Vipul's Razor</a:t>
            </a:r>
            <a:endParaRPr lang="en-US" sz="1300" dirty="0"/>
          </a:p>
        </p:txBody>
      </p:sp>
      <p:sp>
        <p:nvSpPr>
          <p:cNvPr id="32" name="Text 30"/>
          <p:cNvSpPr/>
          <p:nvPr/>
        </p:nvSpPr>
        <p:spPr>
          <a:xfrm>
            <a:off x="8321040" y="4142232"/>
            <a:ext cx="301752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TCP to a central server</a:t>
            </a:r>
            <a:endParaRPr lang="en-US" sz="1050" dirty="0"/>
          </a:p>
        </p:txBody>
      </p:sp>
      <p:sp>
        <p:nvSpPr>
          <p:cNvPr id="33" name="Text 31"/>
          <p:cNvSpPr/>
          <p:nvPr/>
        </p:nvSpPr>
        <p:spPr>
          <a:xfrm>
            <a:off x="640080" y="4937760"/>
            <a:ext cx="10972800" cy="3200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The anti-spam tools are the object of study. The rest provides the mail path they run on.</a:t>
            </a:r>
            <a:endParaRPr lang="en-US" sz="1400" dirty="0"/>
          </a:p>
        </p:txBody>
      </p:sp>
      <p:sp>
        <p:nvSpPr>
          <p:cNvPr id="34" name="Text 32"/>
          <p:cNvSpPr/>
          <p:nvPr/>
        </p:nvSpPr>
        <p:spPr>
          <a:xfrm>
            <a:off x="640080" y="5303520"/>
            <a:ext cx="109728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three tools were selected for their different network dependencies: DNS blocklists, a large volume of parallel DNS lookups, and a TCP session to a central server.</a:t>
            </a:r>
            <a:endParaRPr lang="en-US" sz="1300" dirty="0"/>
          </a:p>
        </p:txBody>
      </p:sp>
      <p:sp>
        <p:nvSpPr>
          <p:cNvPr id="900" name="Slide Number 6"/>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5603A363-DC94-4809-8C4F-14D806C54A62}" type="slidenum">
              <a:rPr lang="en-US" sz="1100">
                <a:solidFill>
                  <a:srgbClr val="6B7280"/>
                </a:solidFill>
                <a:latin typeface="Calibri"/>
              </a:rPr>
              <a:t>6</a:t>
            </a:fld>
            <a:r>
              <a:rPr lang="en-US" sz="1100">
                <a:solidFill>
                  <a:srgbClr val="6B7280"/>
                </a:solidFill>
                <a:latin typeface="Calibri"/>
              </a:rPr>
              <a:t>/9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Run Protocol</a:t>
            </a:r>
            <a:endParaRPr lang="en-US" sz="3200" dirty="0"/>
          </a:p>
        </p:txBody>
      </p:sp>
      <p:sp>
        <p:nvSpPr>
          <p:cNvPr id="3" name="Shape 1"/>
          <p:cNvSpPr/>
          <p:nvPr/>
        </p:nvSpPr>
        <p:spPr>
          <a:xfrm>
            <a:off x="640080" y="1463040"/>
            <a:ext cx="3383280" cy="1691640"/>
          </a:xfrm>
          <a:prstGeom prst="roundRect">
            <a:avLst>
              <a:gd name="adj" fmla="val 5405"/>
            </a:avLst>
          </a:prstGeom>
          <a:solidFill>
            <a:srgbClr val="FFFFFF"/>
          </a:solidFill>
          <a:ln w="19050">
            <a:solidFill>
              <a:srgbClr val="1E2761"/>
            </a:solidFill>
            <a:prstDash val="solid"/>
          </a:ln>
        </p:spPr>
        <p:txBody>
          <a:bodyPr/>
          <a:lstStyle/>
          <a:p>
            <a:endParaRPr lang="en-US"/>
          </a:p>
        </p:txBody>
      </p:sp>
      <p:sp>
        <p:nvSpPr>
          <p:cNvPr id="4" name="Text 2"/>
          <p:cNvSpPr/>
          <p:nvPr/>
        </p:nvSpPr>
        <p:spPr>
          <a:xfrm>
            <a:off x="640080" y="1664208"/>
            <a:ext cx="3383280" cy="32004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Run 1</a:t>
            </a:r>
            <a:endParaRPr lang="en-US" sz="1700" dirty="0"/>
          </a:p>
        </p:txBody>
      </p:sp>
      <p:sp>
        <p:nvSpPr>
          <p:cNvPr id="5" name="Text 3"/>
          <p:cNvSpPr/>
          <p:nvPr/>
        </p:nvSpPr>
        <p:spPr>
          <a:xfrm>
            <a:off x="640080" y="2084832"/>
            <a:ext cx="3383280" cy="292608"/>
          </a:xfrm>
          <a:prstGeom prst="rect">
            <a:avLst/>
          </a:prstGeom>
          <a:noFill/>
          <a:ln/>
        </p:spPr>
        <p:txBody>
          <a:bodyPr wrap="square" lIns="0" tIns="0" rIns="0" bIns="0" rtlCol="0" anchor="ctr"/>
          <a:lstStyle/>
          <a:p>
            <a:pPr marL="0" indent="0" algn="ctr">
              <a:buNone/>
            </a:pPr>
            <a:r>
              <a:rPr lang="en-US" sz="1400" b="1" dirty="0">
                <a:solidFill>
                  <a:srgbClr val="6B7280"/>
                </a:solidFill>
                <a:latin typeface="Calibri" pitchFamily="34" charset="0"/>
                <a:ea typeface="Calibri" pitchFamily="34" charset="-122"/>
                <a:cs typeface="Calibri" pitchFamily="34" charset="-120"/>
              </a:rPr>
              <a:t>No delay</a:t>
            </a:r>
            <a:endParaRPr lang="en-US" sz="1400" dirty="0"/>
          </a:p>
        </p:txBody>
      </p:sp>
      <p:sp>
        <p:nvSpPr>
          <p:cNvPr id="6" name="Text 4"/>
          <p:cNvSpPr/>
          <p:nvPr/>
        </p:nvSpPr>
        <p:spPr>
          <a:xfrm>
            <a:off x="640080" y="2487168"/>
            <a:ext cx="3383280" cy="292608"/>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Baseline</a:t>
            </a:r>
            <a:endParaRPr lang="en-US" sz="1300" dirty="0"/>
          </a:p>
        </p:txBody>
      </p:sp>
      <p:sp>
        <p:nvSpPr>
          <p:cNvPr id="7" name="Shape 5"/>
          <p:cNvSpPr/>
          <p:nvPr/>
        </p:nvSpPr>
        <p:spPr>
          <a:xfrm>
            <a:off x="4389120" y="1463040"/>
            <a:ext cx="3383280" cy="1691640"/>
          </a:xfrm>
          <a:prstGeom prst="roundRect">
            <a:avLst>
              <a:gd name="adj" fmla="val 5405"/>
            </a:avLst>
          </a:prstGeom>
          <a:solidFill>
            <a:srgbClr val="FFFFFF"/>
          </a:solidFill>
          <a:ln w="19050">
            <a:solidFill>
              <a:srgbClr val="E8833A"/>
            </a:solidFill>
            <a:prstDash val="solid"/>
          </a:ln>
        </p:spPr>
        <p:txBody>
          <a:bodyPr/>
          <a:lstStyle/>
          <a:p>
            <a:endParaRPr lang="en-US"/>
          </a:p>
        </p:txBody>
      </p:sp>
      <p:sp>
        <p:nvSpPr>
          <p:cNvPr id="8" name="Text 6"/>
          <p:cNvSpPr/>
          <p:nvPr/>
        </p:nvSpPr>
        <p:spPr>
          <a:xfrm>
            <a:off x="4389120" y="1664208"/>
            <a:ext cx="3383280" cy="32004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Run 2</a:t>
            </a:r>
            <a:endParaRPr lang="en-US" sz="1700" dirty="0"/>
          </a:p>
        </p:txBody>
      </p:sp>
      <p:sp>
        <p:nvSpPr>
          <p:cNvPr id="9" name="Text 7"/>
          <p:cNvSpPr/>
          <p:nvPr/>
        </p:nvSpPr>
        <p:spPr>
          <a:xfrm>
            <a:off x="4389120" y="2084832"/>
            <a:ext cx="3383280" cy="292608"/>
          </a:xfrm>
          <a:prstGeom prst="rect">
            <a:avLst/>
          </a:prstGeom>
          <a:noFill/>
          <a:ln/>
        </p:spPr>
        <p:txBody>
          <a:bodyPr wrap="square" lIns="0" tIns="0" rIns="0" bIns="0" rtlCol="0" anchor="ctr"/>
          <a:lstStyle/>
          <a:p>
            <a:pPr marL="0" indent="0" algn="ctr">
              <a:buNone/>
            </a:pPr>
            <a:r>
              <a:rPr lang="en-US" sz="1400" b="1" dirty="0">
                <a:solidFill>
                  <a:srgbClr val="E8833A"/>
                </a:solidFill>
                <a:latin typeface="Calibri" pitchFamily="34" charset="0"/>
                <a:ea typeface="Calibri" pitchFamily="34" charset="-122"/>
                <a:cs typeface="Calibri" pitchFamily="34" charset="-120"/>
              </a:rPr>
              <a:t>1.3 s delay</a:t>
            </a:r>
            <a:endParaRPr lang="en-US" sz="1400" dirty="0"/>
          </a:p>
        </p:txBody>
      </p:sp>
      <p:sp>
        <p:nvSpPr>
          <p:cNvPr id="10" name="Text 8"/>
          <p:cNvSpPr/>
          <p:nvPr/>
        </p:nvSpPr>
        <p:spPr>
          <a:xfrm>
            <a:off x="4389120" y="2487168"/>
            <a:ext cx="3383280" cy="292608"/>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Default settings</a:t>
            </a:r>
            <a:endParaRPr lang="en-US" sz="1300" dirty="0"/>
          </a:p>
        </p:txBody>
      </p:sp>
      <p:sp>
        <p:nvSpPr>
          <p:cNvPr id="11" name="Shape 9"/>
          <p:cNvSpPr/>
          <p:nvPr/>
        </p:nvSpPr>
        <p:spPr>
          <a:xfrm>
            <a:off x="8138160" y="1463040"/>
            <a:ext cx="3383280" cy="1691640"/>
          </a:xfrm>
          <a:prstGeom prst="roundRect">
            <a:avLst>
              <a:gd name="adj" fmla="val 5405"/>
            </a:avLst>
          </a:prstGeom>
          <a:solidFill>
            <a:srgbClr val="FFFFFF"/>
          </a:solidFill>
          <a:ln w="19050">
            <a:solidFill>
              <a:srgbClr val="E8833A"/>
            </a:solidFill>
            <a:prstDash val="solid"/>
          </a:ln>
        </p:spPr>
        <p:txBody>
          <a:bodyPr/>
          <a:lstStyle/>
          <a:p>
            <a:endParaRPr lang="en-US"/>
          </a:p>
        </p:txBody>
      </p:sp>
      <p:sp>
        <p:nvSpPr>
          <p:cNvPr id="12" name="Text 10"/>
          <p:cNvSpPr/>
          <p:nvPr/>
        </p:nvSpPr>
        <p:spPr>
          <a:xfrm>
            <a:off x="8138160" y="1664208"/>
            <a:ext cx="3383280" cy="32004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Run 3</a:t>
            </a:r>
            <a:endParaRPr lang="en-US" sz="1700" dirty="0"/>
          </a:p>
        </p:txBody>
      </p:sp>
      <p:sp>
        <p:nvSpPr>
          <p:cNvPr id="13" name="Text 11"/>
          <p:cNvSpPr/>
          <p:nvPr/>
        </p:nvSpPr>
        <p:spPr>
          <a:xfrm>
            <a:off x="8138160" y="2084832"/>
            <a:ext cx="3383280" cy="292608"/>
          </a:xfrm>
          <a:prstGeom prst="rect">
            <a:avLst/>
          </a:prstGeom>
          <a:noFill/>
          <a:ln/>
        </p:spPr>
        <p:txBody>
          <a:bodyPr wrap="square" lIns="0" tIns="0" rIns="0" bIns="0" rtlCol="0" anchor="ctr"/>
          <a:lstStyle/>
          <a:p>
            <a:pPr marL="0" indent="0" algn="ctr">
              <a:buNone/>
            </a:pPr>
            <a:r>
              <a:rPr lang="en-US" sz="1400" b="1" dirty="0">
                <a:solidFill>
                  <a:srgbClr val="E8833A"/>
                </a:solidFill>
                <a:latin typeface="Calibri" pitchFamily="34" charset="0"/>
                <a:ea typeface="Calibri" pitchFamily="34" charset="-122"/>
                <a:cs typeface="Calibri" pitchFamily="34" charset="-120"/>
              </a:rPr>
              <a:t>1.3 s delay</a:t>
            </a:r>
            <a:endParaRPr lang="en-US" sz="1400" dirty="0"/>
          </a:p>
        </p:txBody>
      </p:sp>
      <p:sp>
        <p:nvSpPr>
          <p:cNvPr id="14" name="Text 12"/>
          <p:cNvSpPr/>
          <p:nvPr/>
        </p:nvSpPr>
        <p:spPr>
          <a:xfrm>
            <a:off x="8138160" y="2487168"/>
            <a:ext cx="3383280" cy="292608"/>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Reduced timeout</a:t>
            </a:r>
            <a:endParaRPr lang="en-US" sz="1300" dirty="0"/>
          </a:p>
        </p:txBody>
      </p:sp>
      <p:sp>
        <p:nvSpPr>
          <p:cNvPr id="15" name="Shape 13"/>
          <p:cNvSpPr/>
          <p:nvPr/>
        </p:nvSpPr>
        <p:spPr>
          <a:xfrm>
            <a:off x="640080" y="3566160"/>
            <a:ext cx="10972800" cy="0"/>
          </a:xfrm>
          <a:prstGeom prst="line">
            <a:avLst/>
          </a:prstGeom>
          <a:noFill/>
          <a:ln w="12700">
            <a:solidFill>
              <a:srgbClr val="D8DEE9"/>
            </a:solidFill>
            <a:prstDash val="solid"/>
          </a:ln>
        </p:spPr>
        <p:txBody>
          <a:bodyPr/>
          <a:lstStyle/>
          <a:p>
            <a:endParaRPr lang="en-US"/>
          </a:p>
        </p:txBody>
      </p:sp>
      <p:sp>
        <p:nvSpPr>
          <p:cNvPr id="16" name="Text 14"/>
          <p:cNvSpPr/>
          <p:nvPr/>
        </p:nvSpPr>
        <p:spPr>
          <a:xfrm>
            <a:off x="640080" y="3840480"/>
            <a:ext cx="33832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681</a:t>
            </a:r>
            <a:endParaRPr lang="en-US" sz="2600" dirty="0"/>
          </a:p>
        </p:txBody>
      </p:sp>
      <p:sp>
        <p:nvSpPr>
          <p:cNvPr id="17" name="Text 15"/>
          <p:cNvSpPr/>
          <p:nvPr/>
        </p:nvSpPr>
        <p:spPr>
          <a:xfrm>
            <a:off x="640080" y="4407408"/>
            <a:ext cx="338328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emails, the same corpus each run</a:t>
            </a:r>
            <a:endParaRPr lang="en-US" sz="1300" dirty="0"/>
          </a:p>
        </p:txBody>
      </p:sp>
      <p:sp>
        <p:nvSpPr>
          <p:cNvPr id="18" name="Text 16"/>
          <p:cNvSpPr/>
          <p:nvPr/>
        </p:nvSpPr>
        <p:spPr>
          <a:xfrm>
            <a:off x="4389120" y="3840480"/>
            <a:ext cx="33832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Per email</a:t>
            </a:r>
            <a:endParaRPr lang="en-US" sz="2600" dirty="0"/>
          </a:p>
        </p:txBody>
      </p:sp>
      <p:sp>
        <p:nvSpPr>
          <p:cNvPr id="19" name="Text 17"/>
          <p:cNvSpPr/>
          <p:nvPr/>
        </p:nvSpPr>
        <p:spPr>
          <a:xfrm>
            <a:off x="4389120" y="4407408"/>
            <a:ext cx="338328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verdict, score, rules fired, scan time</a:t>
            </a:r>
            <a:endParaRPr lang="en-US" sz="1300" dirty="0"/>
          </a:p>
        </p:txBody>
      </p:sp>
      <p:sp>
        <p:nvSpPr>
          <p:cNvPr id="20" name="Text 18"/>
          <p:cNvSpPr/>
          <p:nvPr/>
        </p:nvSpPr>
        <p:spPr>
          <a:xfrm>
            <a:off x="8138160" y="3840480"/>
            <a:ext cx="33832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Per run</a:t>
            </a:r>
            <a:endParaRPr lang="en-US" sz="2600" dirty="0"/>
          </a:p>
        </p:txBody>
      </p:sp>
      <p:sp>
        <p:nvSpPr>
          <p:cNvPr id="21" name="Text 19"/>
          <p:cNvSpPr/>
          <p:nvPr/>
        </p:nvSpPr>
        <p:spPr>
          <a:xfrm>
            <a:off x="8138160" y="4407408"/>
            <a:ext cx="338328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packet capture, cold DNS cache</a:t>
            </a:r>
            <a:endParaRPr lang="en-US" sz="1300" dirty="0"/>
          </a:p>
        </p:txBody>
      </p:sp>
      <p:sp>
        <p:nvSpPr>
          <p:cNvPr id="900" name="Slide Number 7"/>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9F4E6022-258B-4AEB-AA92-E2089CA24BFD}" type="slidenum">
              <a:rPr lang="en-US" sz="1100">
                <a:solidFill>
                  <a:srgbClr val="6B7280"/>
                </a:solidFill>
                <a:latin typeface="Calibri"/>
              </a:rPr>
              <a:t>7</a:t>
            </a:fld>
            <a:r>
              <a:rPr lang="en-US" sz="1100">
                <a:solidFill>
                  <a:srgbClr val="6B7280"/>
                </a:solidFill>
                <a:latin typeface="Calibri"/>
              </a:rPr>
              <a:t>/9</a:t>
            </a:r>
          </a:p>
        </p:txBody>
      </p:sp>
      <p:sp>
        <p:nvSpPr>
          <p:cNvPr id="22" name="TextBox 21">
            <a:extLst>
              <a:ext uri="{FF2B5EF4-FFF2-40B4-BE49-F238E27FC236}">
                <a16:creationId xmlns:a16="http://schemas.microsoft.com/office/drawing/2014/main" id="{CD6DD524-5190-8A98-6CD0-7FE3C6D56132}"/>
              </a:ext>
            </a:extLst>
          </p:cNvPr>
          <p:cNvSpPr txBox="1"/>
          <p:nvPr/>
        </p:nvSpPr>
        <p:spPr>
          <a:xfrm>
            <a:off x="640081" y="5477608"/>
            <a:ext cx="10881359" cy="523220"/>
          </a:xfrm>
          <a:prstGeom prst="rect">
            <a:avLst/>
          </a:prstGeom>
          <a:noFill/>
        </p:spPr>
        <p:txBody>
          <a:bodyPr wrap="square" rtlCol="0">
            <a:spAutoFit/>
          </a:bodyPr>
          <a:lstStyle/>
          <a:p>
            <a:r>
              <a:rPr lang="en-IN" sz="1400" dirty="0">
                <a:solidFill>
                  <a:schemeClr val="accent1">
                    <a:lumMod val="50000"/>
                  </a:schemeClr>
                </a:solidFill>
              </a:rPr>
              <a:t>Each run is scripted end to end: the sender streams the corpus, the scanner records the results below. A full pass repeats identically with no per-email steps.</a:t>
            </a:r>
            <a:endParaRPr lang="en-US" sz="1400" dirty="0">
              <a:solidFill>
                <a:schemeClr val="accent1">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Results — Rspamd</a:t>
            </a:r>
            <a:endParaRPr lang="en-US" sz="3200" dirty="0"/>
          </a:p>
        </p:txBody>
      </p:sp>
      <p:graphicFrame>
        <p:nvGraphicFramePr>
          <p:cNvPr id="3" name="Chart 0"/>
          <p:cNvGraphicFramePr/>
          <p:nvPr/>
        </p:nvGraphicFramePr>
        <p:xfrm>
          <a:off x="640080" y="1371600"/>
          <a:ext cx="58521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640080" y="4937760"/>
            <a:ext cx="585216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681 emails, three runs</a:t>
            </a:r>
            <a:endParaRPr lang="en-US" sz="1200" dirty="0"/>
          </a:p>
        </p:txBody>
      </p:sp>
      <p:sp>
        <p:nvSpPr>
          <p:cNvPr id="5" name="Text 2"/>
          <p:cNvSpPr/>
          <p:nvPr/>
        </p:nvSpPr>
        <p:spPr>
          <a:xfrm>
            <a:off x="6949440" y="1508760"/>
            <a:ext cx="457200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Delay, default settings</a:t>
            </a:r>
            <a:endParaRPr lang="en-US" sz="1500" dirty="0"/>
          </a:p>
        </p:txBody>
      </p:sp>
      <p:sp>
        <p:nvSpPr>
          <p:cNvPr id="6" name="Text 3"/>
          <p:cNvSpPr/>
          <p:nvPr/>
        </p:nvSpPr>
        <p:spPr>
          <a:xfrm>
            <a:off x="6949440" y="1837944"/>
            <a:ext cx="457200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Detection drops 99.1% to 96.0%. Lookups still complete.</a:t>
            </a:r>
            <a:endParaRPr lang="en-US" sz="1300" dirty="0"/>
          </a:p>
        </p:txBody>
      </p:sp>
      <p:sp>
        <p:nvSpPr>
          <p:cNvPr id="7" name="Text 4"/>
          <p:cNvSpPr/>
          <p:nvPr/>
        </p:nvSpPr>
        <p:spPr>
          <a:xfrm>
            <a:off x="6949440" y="2468880"/>
            <a:ext cx="457200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Scan time rises 12×</a:t>
            </a:r>
            <a:endParaRPr lang="en-US" sz="1500" dirty="0"/>
          </a:p>
        </p:txBody>
      </p:sp>
      <p:sp>
        <p:nvSpPr>
          <p:cNvPr id="8" name="Text 5"/>
          <p:cNvSpPr/>
          <p:nvPr/>
        </p:nvSpPr>
        <p:spPr>
          <a:xfrm>
            <a:off x="6949440" y="2798064"/>
            <a:ext cx="457200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0.47 s to 5.61 s mean. DNS queries 39k to 81k.</a:t>
            </a:r>
            <a:endParaRPr lang="en-US" sz="1300" dirty="0"/>
          </a:p>
        </p:txBody>
      </p:sp>
      <p:sp>
        <p:nvSpPr>
          <p:cNvPr id="9" name="Text 6"/>
          <p:cNvSpPr/>
          <p:nvPr/>
        </p:nvSpPr>
        <p:spPr>
          <a:xfrm>
            <a:off x="6949440" y="3429000"/>
            <a:ext cx="457200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Reduced timeout</a:t>
            </a:r>
            <a:endParaRPr lang="en-US" sz="1500" dirty="0"/>
          </a:p>
        </p:txBody>
      </p:sp>
      <p:sp>
        <p:nvSpPr>
          <p:cNvPr id="10" name="Text 7"/>
          <p:cNvSpPr/>
          <p:nvPr/>
        </p:nvSpPr>
        <p:spPr>
          <a:xfrm>
            <a:off x="6949440" y="3758184"/>
            <a:ext cx="4572000" cy="457200"/>
          </a:xfrm>
          <a:prstGeom prst="rect">
            <a:avLst/>
          </a:prstGeom>
          <a:noFill/>
          <a:ln/>
        </p:spPr>
        <p:txBody>
          <a:bodyPr wrap="square" lIns="0" tIns="0" rIns="0" bIns="0" rtlCol="0" anchor="ctr"/>
          <a:lstStyle/>
          <a:p>
            <a:pPr marL="0" indent="0">
              <a:lnSpc>
                <a:spcPts val="1600"/>
              </a:lnSpc>
              <a:buNone/>
            </a:pPr>
            <a:r>
              <a:rPr lang="en-US" sz="1300" dirty="0">
                <a:solidFill>
                  <a:srgbClr val="6B7280"/>
                </a:solidFill>
                <a:latin typeface="Calibri" pitchFamily="34" charset="0"/>
                <a:ea typeface="Calibri" pitchFamily="34" charset="-122"/>
                <a:cs typeface="Calibri" pitchFamily="34" charset="-120"/>
              </a:rPr>
              <a:t>Blocklist hits 502 to 94. 103 emails flip to not-spam.</a:t>
            </a:r>
            <a:endParaRPr lang="en-US" sz="1300" dirty="0"/>
          </a:p>
        </p:txBody>
      </p:sp>
      <p:sp>
        <p:nvSpPr>
          <p:cNvPr id="11" name="Shape 8"/>
          <p:cNvSpPr/>
          <p:nvPr/>
        </p:nvSpPr>
        <p:spPr>
          <a:xfrm>
            <a:off x="6949440" y="4526280"/>
            <a:ext cx="4572000" cy="0"/>
          </a:xfrm>
          <a:prstGeom prst="line">
            <a:avLst/>
          </a:prstGeom>
          <a:noFill/>
          <a:ln w="12700">
            <a:solidFill>
              <a:srgbClr val="D8DEE9"/>
            </a:solidFill>
            <a:prstDash val="solid"/>
          </a:ln>
        </p:spPr>
        <p:txBody>
          <a:bodyPr/>
          <a:lstStyle/>
          <a:p>
            <a:endParaRPr lang="en-US"/>
          </a:p>
        </p:txBody>
      </p:sp>
      <p:sp>
        <p:nvSpPr>
          <p:cNvPr id="12" name="Text 9"/>
          <p:cNvSpPr/>
          <p:nvPr/>
        </p:nvSpPr>
        <p:spPr>
          <a:xfrm>
            <a:off x="6949440" y="4754880"/>
            <a:ext cx="4572000" cy="777240"/>
          </a:xfrm>
          <a:prstGeom prst="rect">
            <a:avLst/>
          </a:prstGeom>
          <a:noFill/>
          <a:ln/>
        </p:spPr>
        <p:txBody>
          <a:bodyPr wrap="square" lIns="0" tIns="0" rIns="0" bIns="0" rtlCol="0" anchor="ctr"/>
          <a:lstStyle/>
          <a:p>
            <a:pPr marL="0" indent="0">
              <a:lnSpc>
                <a:spcPts val="1700"/>
              </a:lnSpc>
              <a:buNone/>
            </a:pPr>
            <a:r>
              <a:rPr lang="en-US" sz="1300" b="1" dirty="0">
                <a:solidFill>
                  <a:srgbClr val="E8833A"/>
                </a:solidFill>
                <a:latin typeface="Calibri" pitchFamily="34" charset="0"/>
                <a:ea typeface="Calibri" pitchFamily="34" charset="-122"/>
                <a:cs typeface="Calibri" pitchFamily="34" charset="-120"/>
              </a:rPr>
              <a:t>Packet captures show the resolver returned every answer. The loss is caused by the tool's timeout, not by network failure.</a:t>
            </a:r>
            <a:endParaRPr lang="en-US" sz="1300" dirty="0"/>
          </a:p>
        </p:txBody>
      </p:sp>
      <p:sp>
        <p:nvSpPr>
          <p:cNvPr id="900" name="Slide Number 8"/>
          <p:cNvSpPr>
            <a:spLocks noGrp="1"/>
          </p:cNvSpPr>
          <p:nvPr/>
        </p:nvSpPr>
        <p:spPr>
          <a:xfrm>
            <a:off x="10363200" y="6309360"/>
            <a:ext cx="1371600" cy="274320"/>
          </a:xfrm>
          <a:prstGeom prst="rect">
            <a:avLst/>
          </a:prstGeom>
        </p:spPr>
        <p:txBody>
          <a:bodyPr lIns="0" tIns="0" rIns="0" bIns="0" anchor="ctr"/>
          <a:lstStyle/>
          <a:p>
            <a:pPr algn="r"/>
            <a:r>
              <a:rPr lang="en-US" sz="1100">
                <a:solidFill>
                  <a:srgbClr val="6B7280"/>
                </a:solidFill>
                <a:latin typeface="Calibri"/>
              </a:rPr>
              <a:t>page </a:t>
            </a:r>
            <a:fld id="{015F4AEE-89A2-401F-831F-B6B2F2EC9755}" type="slidenum">
              <a:rPr lang="en-US" sz="1100">
                <a:solidFill>
                  <a:srgbClr val="6B7280"/>
                </a:solidFill>
                <a:latin typeface="Calibri"/>
              </a:rPr>
              <a:t>8</a:t>
            </a:fld>
            <a:r>
              <a:rPr lang="en-US" sz="1100">
                <a:solidFill>
                  <a:srgbClr val="6B7280"/>
                </a:solidFill>
                <a:latin typeface="Calibri"/>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48640"/>
            <a:ext cx="1097280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Summary</a:t>
            </a:r>
            <a:endParaRPr lang="en-US" sz="3200" dirty="0"/>
          </a:p>
        </p:txBody>
      </p:sp>
      <p:sp>
        <p:nvSpPr>
          <p:cNvPr id="3" name="Text 1"/>
          <p:cNvSpPr/>
          <p:nvPr/>
        </p:nvSpPr>
        <p:spPr>
          <a:xfrm>
            <a:off x="640080" y="1737360"/>
            <a:ext cx="10972800" cy="3657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The testbed runs: the scanner is on the Moon node, and the delay is applied to the Moon link only.</a:t>
            </a:r>
            <a:endParaRPr lang="en-US" sz="1700" dirty="0"/>
          </a:p>
        </p:txBody>
      </p:sp>
      <p:sp>
        <p:nvSpPr>
          <p:cNvPr id="4" name="Text 2"/>
          <p:cNvSpPr/>
          <p:nvPr/>
        </p:nvSpPr>
        <p:spPr>
          <a:xfrm>
            <a:off x="640080" y="2377440"/>
            <a:ext cx="10972800" cy="3657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The delay does not prevent the lookups completing. The tool's timeout does.</a:t>
            </a:r>
            <a:endParaRPr lang="en-US" sz="1700" dirty="0"/>
          </a:p>
        </p:txBody>
      </p:sp>
      <p:sp>
        <p:nvSpPr>
          <p:cNvPr id="5" name="Text 3"/>
          <p:cNvSpPr/>
          <p:nvPr/>
        </p:nvSpPr>
        <p:spPr>
          <a:xfrm>
            <a:off x="640080" y="3017520"/>
            <a:ext cx="10972800" cy="3657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Detection that survives a reduced timeout comes from the resolver cache, not from completed lookups.</a:t>
            </a:r>
            <a:endParaRPr lang="en-US" sz="1700" dirty="0"/>
          </a:p>
        </p:txBody>
      </p:sp>
      <p:sp>
        <p:nvSpPr>
          <p:cNvPr id="6" name="Shape 4"/>
          <p:cNvSpPr/>
          <p:nvPr/>
        </p:nvSpPr>
        <p:spPr>
          <a:xfrm>
            <a:off x="609600" y="3666393"/>
            <a:ext cx="10972800" cy="0"/>
          </a:xfrm>
          <a:prstGeom prst="line">
            <a:avLst/>
          </a:prstGeom>
          <a:noFill/>
          <a:ln w="12700">
            <a:solidFill>
              <a:srgbClr val="3E4C86"/>
            </a:solidFill>
            <a:prstDash val="solid"/>
          </a:ln>
        </p:spPr>
        <p:txBody>
          <a:bodyPr/>
          <a:lstStyle/>
          <a:p>
            <a:endParaRPr lang="en-US"/>
          </a:p>
        </p:txBody>
      </p:sp>
      <p:sp>
        <p:nvSpPr>
          <p:cNvPr id="7" name="Text 5"/>
          <p:cNvSpPr/>
          <p:nvPr/>
        </p:nvSpPr>
        <p:spPr>
          <a:xfrm>
            <a:off x="609600" y="3903787"/>
            <a:ext cx="10972800" cy="685800"/>
          </a:xfrm>
          <a:prstGeom prst="rect">
            <a:avLst/>
          </a:prstGeom>
          <a:noFill/>
          <a:ln/>
        </p:spPr>
        <p:txBody>
          <a:bodyPr wrap="square" lIns="0" tIns="0" rIns="0" bIns="0" rtlCol="0" anchor="ctr"/>
          <a:lstStyle/>
          <a:p>
            <a:pPr marL="0" indent="0">
              <a:lnSpc>
                <a:spcPts val="2400"/>
              </a:lnSpc>
              <a:buNone/>
            </a:pPr>
            <a:r>
              <a:rPr lang="en-US" sz="1700" dirty="0">
                <a:solidFill>
                  <a:srgbClr val="FFFFFF"/>
                </a:solidFill>
                <a:latin typeface="Calibri" pitchFamily="34" charset="0"/>
                <a:ea typeface="Calibri" pitchFamily="34" charset="-122"/>
                <a:cs typeface="Calibri" pitchFamily="34" charset="-120"/>
              </a:rPr>
              <a:t>Under delay, Rspamd retained detection at 12× the scan time. With the timeout reduced, most DNS-based detection was lost.</a:t>
            </a:r>
            <a:endParaRPr lang="en-US" sz="1700" dirty="0"/>
          </a:p>
        </p:txBody>
      </p:sp>
      <p:sp>
        <p:nvSpPr>
          <p:cNvPr id="900" name="Slide Number 9"/>
          <p:cNvSpPr>
            <a:spLocks noGrp="1"/>
          </p:cNvSpPr>
          <p:nvPr/>
        </p:nvSpPr>
        <p:spPr>
          <a:xfrm>
            <a:off x="10363200" y="6309360"/>
            <a:ext cx="1371600" cy="274320"/>
          </a:xfrm>
          <a:prstGeom prst="rect">
            <a:avLst/>
          </a:prstGeom>
        </p:spPr>
        <p:txBody>
          <a:bodyPr lIns="0" tIns="0" rIns="0" bIns="0" anchor="ctr"/>
          <a:lstStyle/>
          <a:p>
            <a:pPr algn="r"/>
            <a:r>
              <a:rPr lang="en-US" sz="1100">
                <a:solidFill>
                  <a:srgbClr val="AEB8D9"/>
                </a:solidFill>
                <a:latin typeface="Calibri"/>
              </a:rPr>
              <a:t>page </a:t>
            </a:r>
            <a:fld id="{A39293E8-AD3D-43C9-AD94-61368E87C84F}" type="slidenum">
              <a:rPr lang="en-US" sz="1100">
                <a:solidFill>
                  <a:srgbClr val="AEB8D9"/>
                </a:solidFill>
                <a:latin typeface="Calibri"/>
              </a:rPr>
              <a:t>9</a:t>
            </a:fld>
            <a:r>
              <a:rPr lang="en-US" sz="1100">
                <a:solidFill>
                  <a:srgbClr val="AEB8D9"/>
                </a:solidFill>
                <a:latin typeface="Calibri"/>
              </a:rPr>
              <a:t>/9</a:t>
            </a:r>
          </a:p>
        </p:txBody>
      </p:sp>
      <p:sp>
        <p:nvSpPr>
          <p:cNvPr id="8" name="TextBox 7">
            <a:extLst>
              <a:ext uri="{FF2B5EF4-FFF2-40B4-BE49-F238E27FC236}">
                <a16:creationId xmlns:a16="http://schemas.microsoft.com/office/drawing/2014/main" id="{880F57DB-91F1-EDC7-B510-0664A5BCF982}"/>
              </a:ext>
            </a:extLst>
          </p:cNvPr>
          <p:cNvSpPr txBox="1"/>
          <p:nvPr/>
        </p:nvSpPr>
        <p:spPr>
          <a:xfrm>
            <a:off x="504093" y="5246076"/>
            <a:ext cx="9978757" cy="369332"/>
          </a:xfrm>
          <a:prstGeom prst="rect">
            <a:avLst/>
          </a:prstGeom>
          <a:noFill/>
        </p:spPr>
        <p:txBody>
          <a:bodyPr wrap="none" rtlCol="0">
            <a:spAutoFit/>
          </a:bodyPr>
          <a:lstStyle/>
          <a:p>
            <a:r>
              <a:rPr lang="en-IN" dirty="0">
                <a:solidFill>
                  <a:schemeClr val="bg1"/>
                </a:solidFill>
              </a:rPr>
              <a:t>Two tasks remain: the Razor run analysis is being completed, and the dissertation write-up is in progress.</a:t>
            </a:r>
            <a:endParaRPr lang="en-US" dirty="0">
              <a:solidFill>
                <a:schemeClr val="bg1"/>
              </a:solidFill>
            </a:endParaRPr>
          </a:p>
        </p:txBody>
      </p:sp>
      <p:sp>
        <p:nvSpPr>
          <p:cNvPr id="9" name="Shape 4">
            <a:extLst>
              <a:ext uri="{FF2B5EF4-FFF2-40B4-BE49-F238E27FC236}">
                <a16:creationId xmlns:a16="http://schemas.microsoft.com/office/drawing/2014/main" id="{21BFB4AC-0504-FF91-2E24-BC2C13ECC841}"/>
              </a:ext>
            </a:extLst>
          </p:cNvPr>
          <p:cNvSpPr/>
          <p:nvPr/>
        </p:nvSpPr>
        <p:spPr>
          <a:xfrm>
            <a:off x="609600" y="4917831"/>
            <a:ext cx="10972800" cy="0"/>
          </a:xfrm>
          <a:prstGeom prst="line">
            <a:avLst/>
          </a:prstGeom>
          <a:noFill/>
          <a:ln w="12700">
            <a:solidFill>
              <a:srgbClr val="3E4C86"/>
            </a:solidFill>
            <a:prstDash val="solid"/>
          </a:ln>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2174</Words>
  <Application>Microsoft Macintosh PowerPoint</Application>
  <PresentationFormat>Widescreen</PresentationFormat>
  <Paragraphs>183</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Anti-Spam Filtering over Delay-Tolerant Networks</dc:title>
  <dc:subject>PptxGenJS Presentation</dc:subject>
  <dc:creator>Rakesh Lakshmanan</dc:creator>
  <cp:lastModifiedBy>Rakesh Lakshmanan</cp:lastModifiedBy>
  <cp:revision>3</cp:revision>
  <dcterms:created xsi:type="dcterms:W3CDTF">2026-07-17T10:38:49Z</dcterms:created>
  <dcterms:modified xsi:type="dcterms:W3CDTF">2026-07-20T12:50:38Z</dcterms:modified>
</cp:coreProperties>
</file>